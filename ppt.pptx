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2"/>
    <p:sldId id="286" r:id="rId3"/>
    <p:sldId id="287" r:id="rId4"/>
    <p:sldId id="288" r:id="rId5"/>
    <p:sldId id="289" r:id="rId6"/>
    <p:sldId id="266" r:id="rId7"/>
    <p:sldId id="267" r:id="rId8"/>
    <p:sldId id="258" r:id="rId9"/>
    <p:sldId id="271" r:id="rId10"/>
    <p:sldId id="292" r:id="rId11"/>
    <p:sldId id="284" r:id="rId12"/>
    <p:sldId id="282" r:id="rId13"/>
    <p:sldId id="290" r:id="rId14"/>
    <p:sldId id="291" r:id="rId15"/>
    <p:sldId id="285" r:id="rId16"/>
    <p:sldId id="293" r:id="rId17"/>
    <p:sldId id="294" r:id="rId18"/>
    <p:sldId id="295" r:id="rId19"/>
    <p:sldId id="2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D95"/>
    <a:srgbClr val="FF99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6103D4-D733-2272-133D-50298C2F7B90}" v="594" dt="2024-11-14T13:52:45.7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72" d="100"/>
          <a:sy n="72" d="100"/>
        </p:scale>
        <p:origin x="25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990BE2-6256-46EF-9385-D598FB489EB0}" type="doc">
      <dgm:prSet loTypeId="urn:microsoft.com/office/officeart/2018/5/layout/IconCircleLabelList" loCatId="icon" qsTypeId="urn:microsoft.com/office/officeart/2005/8/quickstyle/simple2" qsCatId="simple" csTypeId="urn:microsoft.com/office/officeart/2005/8/colors/accent1_2" csCatId="accent1" phldr="1"/>
      <dgm:spPr/>
      <dgm:t>
        <a:bodyPr/>
        <a:lstStyle/>
        <a:p>
          <a:endParaRPr lang="en-US"/>
        </a:p>
      </dgm:t>
    </dgm:pt>
    <dgm:pt modelId="{12C66542-85C3-48BE-996E-E69A1C2745C8}">
      <dgm:prSet custT="1"/>
      <dgm:spPr/>
      <dgm:t>
        <a:bodyPr/>
        <a:lstStyle/>
        <a:p>
          <a:pPr>
            <a:lnSpc>
              <a:spcPct val="100000"/>
            </a:lnSpc>
            <a:defRPr cap="all"/>
          </a:pPr>
          <a:r>
            <a:rPr lang="en-US" sz="1200" b="1" dirty="0">
              <a:latin typeface="Calibri" panose="020F0502020204030204" pitchFamily="34" charset="0"/>
              <a:cs typeface="Calibri" panose="020F0502020204030204" pitchFamily="34" charset="0"/>
            </a:rPr>
            <a:t>Objectives of the Project:</a:t>
          </a:r>
          <a:endParaRPr lang="en-US" sz="1200" dirty="0">
            <a:latin typeface="Calibri" panose="020F0502020204030204" pitchFamily="34" charset="0"/>
            <a:cs typeface="Calibri" panose="020F0502020204030204" pitchFamily="34" charset="0"/>
          </a:endParaRPr>
        </a:p>
      </dgm:t>
    </dgm:pt>
    <dgm:pt modelId="{9834EEF4-7684-45E2-A144-ABB51F30C09A}" type="parTrans" cxnId="{123E79A2-FEA2-48A8-B527-C20B83F12167}">
      <dgm:prSet/>
      <dgm:spPr/>
      <dgm:t>
        <a:bodyPr/>
        <a:lstStyle/>
        <a:p>
          <a:endParaRPr lang="en-US" sz="2000"/>
        </a:p>
      </dgm:t>
    </dgm:pt>
    <dgm:pt modelId="{780A064B-9D50-4725-8F80-FD24B8538912}" type="sibTrans" cxnId="{123E79A2-FEA2-48A8-B527-C20B83F12167}">
      <dgm:prSet/>
      <dgm:spPr/>
      <dgm:t>
        <a:bodyPr/>
        <a:lstStyle/>
        <a:p>
          <a:endParaRPr lang="en-US" sz="2000"/>
        </a:p>
      </dgm:t>
    </dgm:pt>
    <dgm:pt modelId="{602340F7-3D60-4554-BAAA-A09123885C74}">
      <dgm:prSet custT="1"/>
      <dgm:spPr/>
      <dgm:t>
        <a:bodyPr/>
        <a:lstStyle/>
        <a:p>
          <a:pPr>
            <a:lnSpc>
              <a:spcPct val="100000"/>
            </a:lnSpc>
            <a:defRPr cap="all"/>
          </a:pPr>
          <a:r>
            <a:rPr lang="en-US" sz="1200" b="1" dirty="0">
              <a:latin typeface="Calibri" panose="020F0502020204030204" pitchFamily="34" charset="0"/>
              <a:cs typeface="Calibri" panose="020F0502020204030204" pitchFamily="34" charset="0"/>
            </a:rPr>
            <a:t>1.To Investigate Feasibility:</a:t>
          </a:r>
        </a:p>
        <a:p>
          <a:pPr>
            <a:lnSpc>
              <a:spcPct val="100000"/>
            </a:lnSpc>
            <a:defRPr cap="all"/>
          </a:pPr>
          <a:r>
            <a:rPr lang="en-US" sz="1200" b="1" dirty="0"/>
            <a:t> </a:t>
          </a:r>
          <a:endParaRPr lang="en-US" sz="1200" dirty="0">
            <a:latin typeface="Calibri" panose="020F0502020204030204" pitchFamily="34" charset="0"/>
            <a:cs typeface="Calibri" panose="020F0502020204030204" pitchFamily="34" charset="0"/>
          </a:endParaRPr>
        </a:p>
      </dgm:t>
    </dgm:pt>
    <dgm:pt modelId="{7C5C94E0-57B9-463E-8FDE-B20480D8B016}" type="parTrans" cxnId="{5852E0FA-D117-47B9-A596-7C4B9ED05336}">
      <dgm:prSet/>
      <dgm:spPr/>
      <dgm:t>
        <a:bodyPr/>
        <a:lstStyle/>
        <a:p>
          <a:endParaRPr lang="en-US" sz="2000"/>
        </a:p>
      </dgm:t>
    </dgm:pt>
    <dgm:pt modelId="{C2BC4CA2-FC9B-4CD9-AE63-806AF3BA7CD7}" type="sibTrans" cxnId="{5852E0FA-D117-47B9-A596-7C4B9ED05336}">
      <dgm:prSet/>
      <dgm:spPr/>
      <dgm:t>
        <a:bodyPr/>
        <a:lstStyle/>
        <a:p>
          <a:endParaRPr lang="en-US" sz="2000"/>
        </a:p>
      </dgm:t>
    </dgm:pt>
    <dgm:pt modelId="{C063E463-CE35-4E8B-8976-E142EF81BE14}">
      <dgm:prSet custT="1"/>
      <dgm:spPr/>
      <dgm:t>
        <a:bodyPr/>
        <a:lstStyle/>
        <a:p>
          <a:pPr>
            <a:lnSpc>
              <a:spcPct val="100000"/>
            </a:lnSpc>
            <a:defRPr cap="all"/>
          </a:pPr>
          <a:r>
            <a:rPr lang="en-US" sz="1200" b="1" dirty="0">
              <a:latin typeface="Calibri" panose="020F0502020204030204" pitchFamily="34" charset="0"/>
              <a:cs typeface="Calibri" panose="020F0502020204030204" pitchFamily="34" charset="0"/>
            </a:rPr>
            <a:t>2.To Develop a </a:t>
          </a:r>
        </a:p>
        <a:p>
          <a:pPr>
            <a:lnSpc>
              <a:spcPct val="100000"/>
            </a:lnSpc>
            <a:defRPr cap="all"/>
          </a:pPr>
          <a:r>
            <a:rPr lang="en-US" sz="1200" b="1" dirty="0">
              <a:latin typeface="Calibri" panose="020F0502020204030204" pitchFamily="34" charset="0"/>
              <a:cs typeface="Calibri" panose="020F0502020204030204" pitchFamily="34" charset="0"/>
            </a:rPr>
            <a:t>Deep Learning Model:</a:t>
          </a:r>
          <a:r>
            <a:rPr lang="en-US" sz="1200" dirty="0">
              <a:latin typeface="Calibri" panose="020F0502020204030204" pitchFamily="34" charset="0"/>
              <a:cs typeface="Calibri" panose="020F0502020204030204" pitchFamily="34" charset="0"/>
            </a:rPr>
            <a:t> </a:t>
          </a:r>
        </a:p>
      </dgm:t>
    </dgm:pt>
    <dgm:pt modelId="{7673BBF2-300A-4B2E-875F-30BDB67723FD}" type="parTrans" cxnId="{EA482A55-E3CB-4D5D-B34F-80AB7E540080}">
      <dgm:prSet/>
      <dgm:spPr/>
      <dgm:t>
        <a:bodyPr/>
        <a:lstStyle/>
        <a:p>
          <a:endParaRPr lang="en-US" sz="2000"/>
        </a:p>
      </dgm:t>
    </dgm:pt>
    <dgm:pt modelId="{2CA5B1CD-7EA3-445A-AE9B-83808A327D7F}" type="sibTrans" cxnId="{EA482A55-E3CB-4D5D-B34F-80AB7E540080}">
      <dgm:prSet/>
      <dgm:spPr/>
      <dgm:t>
        <a:bodyPr/>
        <a:lstStyle/>
        <a:p>
          <a:endParaRPr lang="en-US" sz="2000"/>
        </a:p>
      </dgm:t>
    </dgm:pt>
    <dgm:pt modelId="{7B62E475-9B3C-4433-9AF7-F5F87957CB87}">
      <dgm:prSet custT="1"/>
      <dgm:spPr/>
      <dgm:t>
        <a:bodyPr/>
        <a:lstStyle/>
        <a:p>
          <a:pPr>
            <a:lnSpc>
              <a:spcPct val="100000"/>
            </a:lnSpc>
            <a:defRPr cap="all"/>
          </a:pPr>
          <a:r>
            <a:rPr lang="en-US" sz="1200" b="1" dirty="0">
              <a:latin typeface="Calibri" panose="020F0502020204030204" pitchFamily="34" charset="0"/>
              <a:cs typeface="Calibri" panose="020F0502020204030204" pitchFamily="34" charset="0"/>
            </a:rPr>
            <a:t>3.To Build and Curate</a:t>
          </a:r>
        </a:p>
        <a:p>
          <a:pPr>
            <a:lnSpc>
              <a:spcPct val="100000"/>
            </a:lnSpc>
            <a:defRPr cap="all"/>
          </a:pPr>
          <a:r>
            <a:rPr lang="en-US" sz="1200" b="1" dirty="0">
              <a:latin typeface="Calibri" panose="020F0502020204030204" pitchFamily="34" charset="0"/>
              <a:cs typeface="Calibri" panose="020F0502020204030204" pitchFamily="34" charset="0"/>
            </a:rPr>
            <a:t> a Dataset:</a:t>
          </a:r>
          <a:endParaRPr lang="en-US" sz="1200" dirty="0">
            <a:latin typeface="Calibri" panose="020F0502020204030204" pitchFamily="34" charset="0"/>
            <a:cs typeface="Calibri" panose="020F0502020204030204" pitchFamily="34" charset="0"/>
          </a:endParaRPr>
        </a:p>
      </dgm:t>
    </dgm:pt>
    <dgm:pt modelId="{4DE6E109-CF48-4F51-9DFC-931BD2ADD5CC}" type="parTrans" cxnId="{03E81963-B48C-454E-B776-73B802F7CEB0}">
      <dgm:prSet/>
      <dgm:spPr/>
      <dgm:t>
        <a:bodyPr/>
        <a:lstStyle/>
        <a:p>
          <a:endParaRPr lang="en-US" sz="2000"/>
        </a:p>
      </dgm:t>
    </dgm:pt>
    <dgm:pt modelId="{FBE0FFF4-9423-4779-9359-846D914CDEBF}" type="sibTrans" cxnId="{03E81963-B48C-454E-B776-73B802F7CEB0}">
      <dgm:prSet/>
      <dgm:spPr/>
      <dgm:t>
        <a:bodyPr/>
        <a:lstStyle/>
        <a:p>
          <a:endParaRPr lang="en-US" sz="2000"/>
        </a:p>
      </dgm:t>
    </dgm:pt>
    <dgm:pt modelId="{22E6E7B7-84A1-4F4B-B419-EBFEA2DB504F}">
      <dgm:prSet custT="1"/>
      <dgm:spPr/>
      <dgm:t>
        <a:bodyPr/>
        <a:lstStyle/>
        <a:p>
          <a:pPr>
            <a:lnSpc>
              <a:spcPct val="100000"/>
            </a:lnSpc>
            <a:defRPr cap="all"/>
          </a:pPr>
          <a:r>
            <a:rPr lang="en-US" sz="1200" b="1" dirty="0">
              <a:latin typeface="Calibri" panose="020F0502020204030204" pitchFamily="34" charset="0"/>
              <a:cs typeface="Calibri" panose="020F0502020204030204" pitchFamily="34" charset="0"/>
            </a:rPr>
            <a:t>4.To Train and Optimize </a:t>
          </a:r>
        </a:p>
        <a:p>
          <a:pPr>
            <a:lnSpc>
              <a:spcPct val="100000"/>
            </a:lnSpc>
            <a:defRPr cap="all"/>
          </a:pPr>
          <a:r>
            <a:rPr lang="en-US" sz="1200" b="1" dirty="0">
              <a:latin typeface="Calibri" panose="020F0502020204030204" pitchFamily="34" charset="0"/>
              <a:cs typeface="Calibri" panose="020F0502020204030204" pitchFamily="34" charset="0"/>
            </a:rPr>
            <a:t>the Model:</a:t>
          </a:r>
          <a:endParaRPr lang="en-US" sz="1200" dirty="0">
            <a:latin typeface="Calibri" panose="020F0502020204030204" pitchFamily="34" charset="0"/>
            <a:cs typeface="Calibri" panose="020F0502020204030204" pitchFamily="34" charset="0"/>
          </a:endParaRPr>
        </a:p>
      </dgm:t>
    </dgm:pt>
    <dgm:pt modelId="{A707970E-351E-4D8F-A9E8-B4D4979CE1EB}" type="parTrans" cxnId="{5E4DCBB7-4135-4B62-A5C4-5579D8D41184}">
      <dgm:prSet/>
      <dgm:spPr/>
      <dgm:t>
        <a:bodyPr/>
        <a:lstStyle/>
        <a:p>
          <a:endParaRPr lang="en-US" sz="2000"/>
        </a:p>
      </dgm:t>
    </dgm:pt>
    <dgm:pt modelId="{80DC9265-5987-4C30-9ECB-0A1D93F51F90}" type="sibTrans" cxnId="{5E4DCBB7-4135-4B62-A5C4-5579D8D41184}">
      <dgm:prSet/>
      <dgm:spPr/>
      <dgm:t>
        <a:bodyPr/>
        <a:lstStyle/>
        <a:p>
          <a:endParaRPr lang="en-US" sz="2000"/>
        </a:p>
      </dgm:t>
    </dgm:pt>
    <dgm:pt modelId="{D900E0F9-DE6E-4BEA-B5DD-7FCBB38EF1E2}">
      <dgm:prSet custT="1"/>
      <dgm:spPr/>
      <dgm:t>
        <a:bodyPr/>
        <a:lstStyle/>
        <a:p>
          <a:pPr>
            <a:lnSpc>
              <a:spcPct val="100000"/>
            </a:lnSpc>
            <a:defRPr cap="all"/>
          </a:pPr>
          <a:r>
            <a:rPr lang="en-US" sz="1200" b="1" dirty="0">
              <a:latin typeface="Calibri" panose="020F0502020204030204" pitchFamily="34" charset="0"/>
              <a:cs typeface="Calibri" panose="020F0502020204030204" pitchFamily="34" charset="0"/>
            </a:rPr>
            <a:t>5.To Evaluate</a:t>
          </a:r>
        </a:p>
        <a:p>
          <a:pPr>
            <a:lnSpc>
              <a:spcPct val="100000"/>
            </a:lnSpc>
            <a:defRPr cap="all"/>
          </a:pPr>
          <a:r>
            <a:rPr lang="en-US" sz="1200" b="1" dirty="0">
              <a:latin typeface="Calibri" panose="020F0502020204030204" pitchFamily="34" charset="0"/>
              <a:cs typeface="Calibri" panose="020F0502020204030204" pitchFamily="34" charset="0"/>
            </a:rPr>
            <a:t> Model Accuracy:</a:t>
          </a:r>
          <a:endParaRPr lang="en-US" sz="1200" dirty="0">
            <a:latin typeface="Calibri" panose="020F0502020204030204" pitchFamily="34" charset="0"/>
            <a:cs typeface="Calibri" panose="020F0502020204030204" pitchFamily="34" charset="0"/>
          </a:endParaRPr>
        </a:p>
      </dgm:t>
    </dgm:pt>
    <dgm:pt modelId="{B759377E-7B6E-47E0-BB47-F2CD0983B3A1}" type="parTrans" cxnId="{7063FFD2-621F-4BEB-A4BF-1071D4213068}">
      <dgm:prSet/>
      <dgm:spPr/>
      <dgm:t>
        <a:bodyPr/>
        <a:lstStyle/>
        <a:p>
          <a:endParaRPr lang="en-US" sz="2000"/>
        </a:p>
      </dgm:t>
    </dgm:pt>
    <dgm:pt modelId="{5CD20967-8CEF-462D-B702-19488A4BDBDA}" type="sibTrans" cxnId="{7063FFD2-621F-4BEB-A4BF-1071D4213068}">
      <dgm:prSet/>
      <dgm:spPr/>
      <dgm:t>
        <a:bodyPr/>
        <a:lstStyle/>
        <a:p>
          <a:endParaRPr lang="en-US" sz="2000"/>
        </a:p>
      </dgm:t>
    </dgm:pt>
    <dgm:pt modelId="{7488EAE2-A89C-428E-9A44-46B28845500F}">
      <dgm:prSet custT="1"/>
      <dgm:spPr/>
      <dgm:t>
        <a:bodyPr/>
        <a:lstStyle/>
        <a:p>
          <a:pPr>
            <a:lnSpc>
              <a:spcPct val="100000"/>
            </a:lnSpc>
            <a:defRPr cap="all"/>
          </a:pPr>
          <a:r>
            <a:rPr lang="en-US" sz="1200" b="1" dirty="0">
              <a:latin typeface="Calibri" panose="020F0502020204030204" pitchFamily="34" charset="0"/>
              <a:cs typeface="Calibri" panose="020F0502020204030204" pitchFamily="34" charset="0"/>
            </a:rPr>
            <a:t>6.To Explore Practical Applications</a:t>
          </a:r>
          <a:r>
            <a:rPr lang="en-US" sz="1200" b="1" dirty="0"/>
            <a:t>:</a:t>
          </a:r>
          <a:endParaRPr lang="en-US" sz="1200" dirty="0"/>
        </a:p>
      </dgm:t>
    </dgm:pt>
    <dgm:pt modelId="{5D82EBB7-5D6E-44AD-8AA2-4B2DEEF6CBB5}" type="parTrans" cxnId="{955D1E73-B06F-47A9-B25B-8B8E3272DBCA}">
      <dgm:prSet/>
      <dgm:spPr/>
      <dgm:t>
        <a:bodyPr/>
        <a:lstStyle/>
        <a:p>
          <a:endParaRPr lang="en-US" sz="2000"/>
        </a:p>
      </dgm:t>
    </dgm:pt>
    <dgm:pt modelId="{00B6A74A-2A9D-421E-B2D5-665D39A70333}" type="sibTrans" cxnId="{955D1E73-B06F-47A9-B25B-8B8E3272DBCA}">
      <dgm:prSet/>
      <dgm:spPr/>
      <dgm:t>
        <a:bodyPr/>
        <a:lstStyle/>
        <a:p>
          <a:endParaRPr lang="en-US" sz="2000"/>
        </a:p>
      </dgm:t>
    </dgm:pt>
    <dgm:pt modelId="{6C0E2052-82EF-4FCA-A09F-3CFD0D705231}" type="pres">
      <dgm:prSet presAssocID="{DC990BE2-6256-46EF-9385-D598FB489EB0}" presName="root" presStyleCnt="0">
        <dgm:presLayoutVars>
          <dgm:dir/>
          <dgm:resizeHandles val="exact"/>
        </dgm:presLayoutVars>
      </dgm:prSet>
      <dgm:spPr/>
    </dgm:pt>
    <dgm:pt modelId="{78122A6D-81C8-40C2-9517-2FD25C9883DD}" type="pres">
      <dgm:prSet presAssocID="{12C66542-85C3-48BE-996E-E69A1C2745C8}" presName="compNode" presStyleCnt="0"/>
      <dgm:spPr/>
    </dgm:pt>
    <dgm:pt modelId="{72EE5A48-D133-4009-B138-0094E68C3EE6}" type="pres">
      <dgm:prSet presAssocID="{12C66542-85C3-48BE-996E-E69A1C2745C8}" presName="iconBgRect" presStyleLbl="bgShp" presStyleIdx="0" presStyleCnt="7" custLinFactX="-18450" custLinFactNeighborX="-100000" custLinFactNeighborY="44122"/>
      <dgm:spPr/>
    </dgm:pt>
    <dgm:pt modelId="{FE9C25B3-2E32-4782-83FC-D821803E4BBF}" type="pres">
      <dgm:prSet presAssocID="{12C66542-85C3-48BE-996E-E69A1C2745C8}" presName="iconRect" presStyleLbl="node1" presStyleIdx="0" presStyleCnt="7" custLinFactX="-100000" custLinFactNeighborX="-107233" custLinFactNeighborY="7820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llseye"/>
        </a:ext>
      </dgm:extLst>
    </dgm:pt>
    <dgm:pt modelId="{1EF9D652-B96C-4158-A6A8-B94E6CC2B939}" type="pres">
      <dgm:prSet presAssocID="{12C66542-85C3-48BE-996E-E69A1C2745C8}" presName="spaceRect" presStyleCnt="0"/>
      <dgm:spPr/>
    </dgm:pt>
    <dgm:pt modelId="{C8DFEC5B-CA58-4AD6-B3AE-F2B74A871248}" type="pres">
      <dgm:prSet presAssocID="{12C66542-85C3-48BE-996E-E69A1C2745C8}" presName="textRect" presStyleLbl="revTx" presStyleIdx="0" presStyleCnt="7" custLinFactNeighborX="-70545" custLinFactNeighborY="57665">
        <dgm:presLayoutVars>
          <dgm:chMax val="1"/>
          <dgm:chPref val="1"/>
        </dgm:presLayoutVars>
      </dgm:prSet>
      <dgm:spPr/>
    </dgm:pt>
    <dgm:pt modelId="{C6A83F5D-6BD6-4BAC-A6FD-5601895E2F1D}" type="pres">
      <dgm:prSet presAssocID="{780A064B-9D50-4725-8F80-FD24B8538912}" presName="sibTrans" presStyleCnt="0"/>
      <dgm:spPr/>
    </dgm:pt>
    <dgm:pt modelId="{B374956F-E8E3-4477-BCBD-D6BEE0FF664B}" type="pres">
      <dgm:prSet presAssocID="{602340F7-3D60-4554-BAAA-A09123885C74}" presName="compNode" presStyleCnt="0"/>
      <dgm:spPr/>
    </dgm:pt>
    <dgm:pt modelId="{616D826A-B248-4F73-BD83-68360431B261}" type="pres">
      <dgm:prSet presAssocID="{602340F7-3D60-4554-BAAA-A09123885C74}" presName="iconBgRect" presStyleLbl="bgShp" presStyleIdx="1" presStyleCnt="7" custLinFactX="-57043" custLinFactNeighborX="-100000" custLinFactNeighborY="45617"/>
      <dgm:spPr/>
    </dgm:pt>
    <dgm:pt modelId="{54CAF97B-2537-4BFE-AFC1-D0C1F5424A38}" type="pres">
      <dgm:prSet presAssocID="{602340F7-3D60-4554-BAAA-A09123885C74}" presName="iconRect" presStyleLbl="node1" presStyleIdx="1" presStyleCnt="7" custLinFactX="-100000" custLinFactNeighborX="-169406" custLinFactNeighborY="7689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inger Print"/>
        </a:ext>
      </dgm:extLst>
    </dgm:pt>
    <dgm:pt modelId="{4295D0FB-4B67-4A42-96CE-1D76275F25C1}" type="pres">
      <dgm:prSet presAssocID="{602340F7-3D60-4554-BAAA-A09123885C74}" presName="spaceRect" presStyleCnt="0"/>
      <dgm:spPr/>
    </dgm:pt>
    <dgm:pt modelId="{6CE8E229-2D98-4E9A-A1A6-663217DDD0C0}" type="pres">
      <dgm:prSet presAssocID="{602340F7-3D60-4554-BAAA-A09123885C74}" presName="textRect" presStyleLbl="revTx" presStyleIdx="1" presStyleCnt="7" custScaleX="106717" custScaleY="96680" custLinFactNeighborX="-93470" custLinFactNeighborY="58495">
        <dgm:presLayoutVars>
          <dgm:chMax val="1"/>
          <dgm:chPref val="1"/>
        </dgm:presLayoutVars>
      </dgm:prSet>
      <dgm:spPr/>
    </dgm:pt>
    <dgm:pt modelId="{A1C97012-6D3B-4E97-8C4E-4F62C2FDFC5B}" type="pres">
      <dgm:prSet presAssocID="{C2BC4CA2-FC9B-4CD9-AE63-806AF3BA7CD7}" presName="sibTrans" presStyleCnt="0"/>
      <dgm:spPr/>
    </dgm:pt>
    <dgm:pt modelId="{05D2085D-8C7A-413A-B795-569C77FEF9EB}" type="pres">
      <dgm:prSet presAssocID="{C063E463-CE35-4E8B-8976-E142EF81BE14}" presName="compNode" presStyleCnt="0"/>
      <dgm:spPr/>
    </dgm:pt>
    <dgm:pt modelId="{40331A74-CCEC-4590-9BC3-00ADD661E734}" type="pres">
      <dgm:prSet presAssocID="{C063E463-CE35-4E8B-8976-E142EF81BE14}" presName="iconBgRect" presStyleLbl="bgShp" presStyleIdx="2" presStyleCnt="7" custLinFactX="-100000" custLinFactNeighborX="-129582" custLinFactNeighborY="45601"/>
      <dgm:spPr/>
    </dgm:pt>
    <dgm:pt modelId="{8DEFA86D-A40C-4965-83BF-79ABBD993C94}" type="pres">
      <dgm:prSet presAssocID="{C063E463-CE35-4E8B-8976-E142EF81BE14}" presName="iconRect" presStyleLbl="node1" presStyleIdx="2" presStyleCnt="7" custLinFactX="-200000" custLinFactNeighborX="-201433" custLinFactNeighborY="77720"/>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obot"/>
        </a:ext>
      </dgm:extLst>
    </dgm:pt>
    <dgm:pt modelId="{8A97C12E-2172-4D9E-96CE-5B57EB6B3D10}" type="pres">
      <dgm:prSet presAssocID="{C063E463-CE35-4E8B-8976-E142EF81BE14}" presName="spaceRect" presStyleCnt="0"/>
      <dgm:spPr/>
    </dgm:pt>
    <dgm:pt modelId="{99AD2DCC-CBCA-49CB-94C2-EC5F1C305137}" type="pres">
      <dgm:prSet presAssocID="{C063E463-CE35-4E8B-8976-E142EF81BE14}" presName="textRect" presStyleLbl="revTx" presStyleIdx="2" presStyleCnt="7" custScaleX="150949" custLinFactX="-37989" custLinFactNeighborX="-100000" custLinFactNeighborY="53651">
        <dgm:presLayoutVars>
          <dgm:chMax val="1"/>
          <dgm:chPref val="1"/>
        </dgm:presLayoutVars>
      </dgm:prSet>
      <dgm:spPr/>
    </dgm:pt>
    <dgm:pt modelId="{BDD91C33-9295-4601-BA8B-0BCE8AB3BCAD}" type="pres">
      <dgm:prSet presAssocID="{2CA5B1CD-7EA3-445A-AE9B-83808A327D7F}" presName="sibTrans" presStyleCnt="0"/>
      <dgm:spPr/>
    </dgm:pt>
    <dgm:pt modelId="{F4CEFC0B-6541-4ED6-94CC-793296631635}" type="pres">
      <dgm:prSet presAssocID="{7B62E475-9B3C-4433-9AF7-F5F87957CB87}" presName="compNode" presStyleCnt="0"/>
      <dgm:spPr/>
    </dgm:pt>
    <dgm:pt modelId="{A546255A-4273-4AC1-9719-0C0C9F7C8231}" type="pres">
      <dgm:prSet presAssocID="{7B62E475-9B3C-4433-9AF7-F5F87957CB87}" presName="iconBgRect" presStyleLbl="bgShp" presStyleIdx="3" presStyleCnt="7" custLinFactX="-133460" custLinFactNeighborX="-200000" custLinFactNeighborY="46365"/>
      <dgm:spPr/>
    </dgm:pt>
    <dgm:pt modelId="{50EF3BFC-ADA5-4DCE-ABD6-FDA3B881DB06}" type="pres">
      <dgm:prSet presAssocID="{7B62E475-9B3C-4433-9AF7-F5F87957CB87}" presName="iconRect" presStyleLbl="node1" presStyleIdx="3" presStyleCnt="7" custLinFactX="-281439" custLinFactNeighborX="-300000" custLinFactNeighborY="82242"/>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tatistics"/>
        </a:ext>
      </dgm:extLst>
    </dgm:pt>
    <dgm:pt modelId="{617BD8DF-88BA-4F00-83FE-2862C71F164D}" type="pres">
      <dgm:prSet presAssocID="{7B62E475-9B3C-4433-9AF7-F5F87957CB87}" presName="spaceRect" presStyleCnt="0"/>
      <dgm:spPr/>
    </dgm:pt>
    <dgm:pt modelId="{053D2507-E695-41E1-BB9F-AFBD6037664F}" type="pres">
      <dgm:prSet presAssocID="{7B62E475-9B3C-4433-9AF7-F5F87957CB87}" presName="textRect" presStyleLbl="revTx" presStyleIdx="3" presStyleCnt="7" custScaleX="156747" custLinFactX="-98785" custLinFactNeighborX="-100000" custLinFactNeighborY="51902">
        <dgm:presLayoutVars>
          <dgm:chMax val="1"/>
          <dgm:chPref val="1"/>
        </dgm:presLayoutVars>
      </dgm:prSet>
      <dgm:spPr/>
    </dgm:pt>
    <dgm:pt modelId="{AB11923D-6075-478B-A797-E9F8FA921306}" type="pres">
      <dgm:prSet presAssocID="{FBE0FFF4-9423-4779-9359-846D914CDEBF}" presName="sibTrans" presStyleCnt="0"/>
      <dgm:spPr/>
    </dgm:pt>
    <dgm:pt modelId="{B4C9618C-2B92-4055-8728-0E0DF65186DD}" type="pres">
      <dgm:prSet presAssocID="{22E6E7B7-84A1-4F4B-B419-EBFEA2DB504F}" presName="compNode" presStyleCnt="0"/>
      <dgm:spPr/>
    </dgm:pt>
    <dgm:pt modelId="{49F491A4-1DC5-487B-A878-7B346BAA5B9A}" type="pres">
      <dgm:prSet presAssocID="{22E6E7B7-84A1-4F4B-B419-EBFEA2DB504F}" presName="iconBgRect" presStyleLbl="bgShp" presStyleIdx="4" presStyleCnt="7" custLinFactX="-200000" custLinFactNeighborX="-240469" custLinFactNeighborY="49340"/>
      <dgm:spPr/>
    </dgm:pt>
    <dgm:pt modelId="{20570DB4-14F8-4CA6-B9A3-F0F7A348CBC3}" type="pres">
      <dgm:prSet presAssocID="{22E6E7B7-84A1-4F4B-B419-EBFEA2DB504F}" presName="iconRect" presStyleLbl="node1" presStyleIdx="4" presStyleCnt="7" custLinFactX="-365067" custLinFactNeighborX="-400000" custLinFactNeighborY="9136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atabase"/>
        </a:ext>
      </dgm:extLst>
    </dgm:pt>
    <dgm:pt modelId="{359C3DDA-867D-42A0-94E2-08F8DADB710F}" type="pres">
      <dgm:prSet presAssocID="{22E6E7B7-84A1-4F4B-B419-EBFEA2DB504F}" presName="spaceRect" presStyleCnt="0"/>
      <dgm:spPr/>
    </dgm:pt>
    <dgm:pt modelId="{7B41F77B-4825-42F4-880B-BE79088675C9}" type="pres">
      <dgm:prSet presAssocID="{22E6E7B7-84A1-4F4B-B419-EBFEA2DB504F}" presName="textRect" presStyleLbl="revTx" presStyleIdx="4" presStyleCnt="7" custScaleX="171482" custLinFactX="-100000" custLinFactNeighborX="-157776" custLinFactNeighborY="49851">
        <dgm:presLayoutVars>
          <dgm:chMax val="1"/>
          <dgm:chPref val="1"/>
        </dgm:presLayoutVars>
      </dgm:prSet>
      <dgm:spPr/>
    </dgm:pt>
    <dgm:pt modelId="{197A0F32-5D28-45D6-8C4D-AB1E6E784005}" type="pres">
      <dgm:prSet presAssocID="{80DC9265-5987-4C30-9ECB-0A1D93F51F90}" presName="sibTrans" presStyleCnt="0"/>
      <dgm:spPr/>
    </dgm:pt>
    <dgm:pt modelId="{B7228D7B-CDCE-4391-ACAB-32506989DEF3}" type="pres">
      <dgm:prSet presAssocID="{D900E0F9-DE6E-4BEA-B5DD-7FCBB38EF1E2}" presName="compNode" presStyleCnt="0"/>
      <dgm:spPr/>
    </dgm:pt>
    <dgm:pt modelId="{3A05509D-D518-41C8-A8BD-33E38750E6BB}" type="pres">
      <dgm:prSet presAssocID="{D900E0F9-DE6E-4BEA-B5DD-7FCBB38EF1E2}" presName="iconBgRect" presStyleLbl="bgShp" presStyleIdx="5" presStyleCnt="7" custLinFactX="167929" custLinFactY="-87704" custLinFactNeighborX="200000" custLinFactNeighborY="-100000"/>
      <dgm:spPr/>
    </dgm:pt>
    <dgm:pt modelId="{47CF5F6A-C4CD-4A94-A0CD-1EFC369DF26B}" type="pres">
      <dgm:prSet presAssocID="{D900E0F9-DE6E-4BEA-B5DD-7FCBB38EF1E2}" presName="iconRect" presStyleLbl="node1" presStyleIdx="5" presStyleCnt="7" custLinFactX="300000" custLinFactY="-122176" custLinFactNeighborX="342552" custLinFactNeighborY="-200000"/>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Target"/>
        </a:ext>
      </dgm:extLst>
    </dgm:pt>
    <dgm:pt modelId="{0DD948A6-A753-4F9F-83FE-6CDD1272A811}" type="pres">
      <dgm:prSet presAssocID="{D900E0F9-DE6E-4BEA-B5DD-7FCBB38EF1E2}" presName="spaceRect" presStyleCnt="0"/>
      <dgm:spPr/>
    </dgm:pt>
    <dgm:pt modelId="{5DAB06E8-C8BA-40D3-BF09-6CE740F22173}" type="pres">
      <dgm:prSet presAssocID="{D900E0F9-DE6E-4BEA-B5DD-7FCBB38EF1E2}" presName="textRect" presStyleLbl="revTx" presStyleIdx="5" presStyleCnt="7" custScaleX="175598" custLinFactX="100000" custLinFactY="-122029" custLinFactNeighborX="128741" custLinFactNeighborY="-200000">
        <dgm:presLayoutVars>
          <dgm:chMax val="1"/>
          <dgm:chPref val="1"/>
        </dgm:presLayoutVars>
      </dgm:prSet>
      <dgm:spPr/>
    </dgm:pt>
    <dgm:pt modelId="{2DA730CD-1996-49B9-8FD1-F74A92D1001E}" type="pres">
      <dgm:prSet presAssocID="{5CD20967-8CEF-462D-B702-19488A4BDBDA}" presName="sibTrans" presStyleCnt="0"/>
      <dgm:spPr/>
    </dgm:pt>
    <dgm:pt modelId="{3E0C1D63-63DE-4FB3-A7C2-986DEE080F21}" type="pres">
      <dgm:prSet presAssocID="{7488EAE2-A89C-428E-9A44-46B28845500F}" presName="compNode" presStyleCnt="0"/>
      <dgm:spPr/>
    </dgm:pt>
    <dgm:pt modelId="{6BE44811-CDB0-406B-8C53-F1C71FEC28A4}" type="pres">
      <dgm:prSet presAssocID="{7488EAE2-A89C-428E-9A44-46B28845500F}" presName="iconBgRect" presStyleLbl="bgShp" presStyleIdx="6" presStyleCnt="7" custLinFactX="100000" custLinFactY="-83228" custLinFactNeighborX="173741" custLinFactNeighborY="-100000"/>
      <dgm:spPr/>
    </dgm:pt>
    <dgm:pt modelId="{1B3EA3B5-7C74-4A4B-A2E1-A5F4AC1C2978}" type="pres">
      <dgm:prSet presAssocID="{7488EAE2-A89C-428E-9A44-46B28845500F}" presName="iconRect" presStyleLbl="node1" presStyleIdx="6" presStyleCnt="7" custLinFactX="200000" custLinFactY="-116519" custLinFactNeighborX="279278" custLinFactNeighborY="-200000"/>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Hospital"/>
        </a:ext>
      </dgm:extLst>
    </dgm:pt>
    <dgm:pt modelId="{3B4CCD8B-43F8-4D87-B2EF-C6A0341F3C08}" type="pres">
      <dgm:prSet presAssocID="{7488EAE2-A89C-428E-9A44-46B28845500F}" presName="spaceRect" presStyleCnt="0"/>
      <dgm:spPr/>
    </dgm:pt>
    <dgm:pt modelId="{2019C3BD-7F74-482F-93D1-842C46383B34}" type="pres">
      <dgm:prSet presAssocID="{7488EAE2-A89C-428E-9A44-46B28845500F}" presName="textRect" presStyleLbl="revTx" presStyleIdx="6" presStyleCnt="7" custScaleX="149801" custScaleY="111042" custLinFactX="74258" custLinFactY="-118491" custLinFactNeighborX="100000" custLinFactNeighborY="-200000">
        <dgm:presLayoutVars>
          <dgm:chMax val="1"/>
          <dgm:chPref val="1"/>
        </dgm:presLayoutVars>
      </dgm:prSet>
      <dgm:spPr/>
    </dgm:pt>
  </dgm:ptLst>
  <dgm:cxnLst>
    <dgm:cxn modelId="{B1AB6B1E-88E7-4087-8A52-04006C72C3F5}" type="presOf" srcId="{7488EAE2-A89C-428E-9A44-46B28845500F}" destId="{2019C3BD-7F74-482F-93D1-842C46383B34}" srcOrd="0" destOrd="0" presId="urn:microsoft.com/office/officeart/2018/5/layout/IconCircleLabelList"/>
    <dgm:cxn modelId="{54D17B20-5227-4C1C-AEBA-1550C1559D08}" type="presOf" srcId="{7B62E475-9B3C-4433-9AF7-F5F87957CB87}" destId="{053D2507-E695-41E1-BB9F-AFBD6037664F}" srcOrd="0" destOrd="0" presId="urn:microsoft.com/office/officeart/2018/5/layout/IconCircleLabelList"/>
    <dgm:cxn modelId="{4269C326-B472-44A5-B549-334774DCE9CB}" type="presOf" srcId="{C063E463-CE35-4E8B-8976-E142EF81BE14}" destId="{99AD2DCC-CBCA-49CB-94C2-EC5F1C305137}" srcOrd="0" destOrd="0" presId="urn:microsoft.com/office/officeart/2018/5/layout/IconCircleLabelList"/>
    <dgm:cxn modelId="{C8B7B02B-B88B-41B8-8E66-101F61FE24F7}" type="presOf" srcId="{602340F7-3D60-4554-BAAA-A09123885C74}" destId="{6CE8E229-2D98-4E9A-A1A6-663217DDD0C0}" srcOrd="0" destOrd="0" presId="urn:microsoft.com/office/officeart/2018/5/layout/IconCircleLabelList"/>
    <dgm:cxn modelId="{03E81963-B48C-454E-B776-73B802F7CEB0}" srcId="{DC990BE2-6256-46EF-9385-D598FB489EB0}" destId="{7B62E475-9B3C-4433-9AF7-F5F87957CB87}" srcOrd="3" destOrd="0" parTransId="{4DE6E109-CF48-4F51-9DFC-931BD2ADD5CC}" sibTransId="{FBE0FFF4-9423-4779-9359-846D914CDEBF}"/>
    <dgm:cxn modelId="{955D1E73-B06F-47A9-B25B-8B8E3272DBCA}" srcId="{DC990BE2-6256-46EF-9385-D598FB489EB0}" destId="{7488EAE2-A89C-428E-9A44-46B28845500F}" srcOrd="6" destOrd="0" parTransId="{5D82EBB7-5D6E-44AD-8AA2-4B2DEEF6CBB5}" sibTransId="{00B6A74A-2A9D-421E-B2D5-665D39A70333}"/>
    <dgm:cxn modelId="{EA482A55-E3CB-4D5D-B34F-80AB7E540080}" srcId="{DC990BE2-6256-46EF-9385-D598FB489EB0}" destId="{C063E463-CE35-4E8B-8976-E142EF81BE14}" srcOrd="2" destOrd="0" parTransId="{7673BBF2-300A-4B2E-875F-30BDB67723FD}" sibTransId="{2CA5B1CD-7EA3-445A-AE9B-83808A327D7F}"/>
    <dgm:cxn modelId="{A6548080-217C-4003-A981-52B257329E01}" type="presOf" srcId="{DC990BE2-6256-46EF-9385-D598FB489EB0}" destId="{6C0E2052-82EF-4FCA-A09F-3CFD0D705231}" srcOrd="0" destOrd="0" presId="urn:microsoft.com/office/officeart/2018/5/layout/IconCircleLabelList"/>
    <dgm:cxn modelId="{123E79A2-FEA2-48A8-B527-C20B83F12167}" srcId="{DC990BE2-6256-46EF-9385-D598FB489EB0}" destId="{12C66542-85C3-48BE-996E-E69A1C2745C8}" srcOrd="0" destOrd="0" parTransId="{9834EEF4-7684-45E2-A144-ABB51F30C09A}" sibTransId="{780A064B-9D50-4725-8F80-FD24B8538912}"/>
    <dgm:cxn modelId="{5E4DCBB7-4135-4B62-A5C4-5579D8D41184}" srcId="{DC990BE2-6256-46EF-9385-D598FB489EB0}" destId="{22E6E7B7-84A1-4F4B-B419-EBFEA2DB504F}" srcOrd="4" destOrd="0" parTransId="{A707970E-351E-4D8F-A9E8-B4D4979CE1EB}" sibTransId="{80DC9265-5987-4C30-9ECB-0A1D93F51F90}"/>
    <dgm:cxn modelId="{59A166BC-95EA-4BAA-BD16-46F480F377EB}" type="presOf" srcId="{12C66542-85C3-48BE-996E-E69A1C2745C8}" destId="{C8DFEC5B-CA58-4AD6-B3AE-F2B74A871248}" srcOrd="0" destOrd="0" presId="urn:microsoft.com/office/officeart/2018/5/layout/IconCircleLabelList"/>
    <dgm:cxn modelId="{700A1CC8-A2D3-4ED0-92D5-0DA0C52B4349}" type="presOf" srcId="{22E6E7B7-84A1-4F4B-B419-EBFEA2DB504F}" destId="{7B41F77B-4825-42F4-880B-BE79088675C9}" srcOrd="0" destOrd="0" presId="urn:microsoft.com/office/officeart/2018/5/layout/IconCircleLabelList"/>
    <dgm:cxn modelId="{7063FFD2-621F-4BEB-A4BF-1071D4213068}" srcId="{DC990BE2-6256-46EF-9385-D598FB489EB0}" destId="{D900E0F9-DE6E-4BEA-B5DD-7FCBB38EF1E2}" srcOrd="5" destOrd="0" parTransId="{B759377E-7B6E-47E0-BB47-F2CD0983B3A1}" sibTransId="{5CD20967-8CEF-462D-B702-19488A4BDBDA}"/>
    <dgm:cxn modelId="{297251E1-A6C0-437D-87F5-25438647EC3B}" type="presOf" srcId="{D900E0F9-DE6E-4BEA-B5DD-7FCBB38EF1E2}" destId="{5DAB06E8-C8BA-40D3-BF09-6CE740F22173}" srcOrd="0" destOrd="0" presId="urn:microsoft.com/office/officeart/2018/5/layout/IconCircleLabelList"/>
    <dgm:cxn modelId="{5852E0FA-D117-47B9-A596-7C4B9ED05336}" srcId="{DC990BE2-6256-46EF-9385-D598FB489EB0}" destId="{602340F7-3D60-4554-BAAA-A09123885C74}" srcOrd="1" destOrd="0" parTransId="{7C5C94E0-57B9-463E-8FDE-B20480D8B016}" sibTransId="{C2BC4CA2-FC9B-4CD9-AE63-806AF3BA7CD7}"/>
    <dgm:cxn modelId="{92D13A21-71C7-451A-9C43-93F2AA242052}" type="presParOf" srcId="{6C0E2052-82EF-4FCA-A09F-3CFD0D705231}" destId="{78122A6D-81C8-40C2-9517-2FD25C9883DD}" srcOrd="0" destOrd="0" presId="urn:microsoft.com/office/officeart/2018/5/layout/IconCircleLabelList"/>
    <dgm:cxn modelId="{3DE26BB9-55DD-42C9-9527-3E295FC061CA}" type="presParOf" srcId="{78122A6D-81C8-40C2-9517-2FD25C9883DD}" destId="{72EE5A48-D133-4009-B138-0094E68C3EE6}" srcOrd="0" destOrd="0" presId="urn:microsoft.com/office/officeart/2018/5/layout/IconCircleLabelList"/>
    <dgm:cxn modelId="{6ADEEC62-E2E1-412E-9C21-909FC4DEFD03}" type="presParOf" srcId="{78122A6D-81C8-40C2-9517-2FD25C9883DD}" destId="{FE9C25B3-2E32-4782-83FC-D821803E4BBF}" srcOrd="1" destOrd="0" presId="urn:microsoft.com/office/officeart/2018/5/layout/IconCircleLabelList"/>
    <dgm:cxn modelId="{34EF0293-E539-4888-B213-3F3E8860D394}" type="presParOf" srcId="{78122A6D-81C8-40C2-9517-2FD25C9883DD}" destId="{1EF9D652-B96C-4158-A6A8-B94E6CC2B939}" srcOrd="2" destOrd="0" presId="urn:microsoft.com/office/officeart/2018/5/layout/IconCircleLabelList"/>
    <dgm:cxn modelId="{82E7AF18-940B-4FD6-9413-E90DB6F60BCA}" type="presParOf" srcId="{78122A6D-81C8-40C2-9517-2FD25C9883DD}" destId="{C8DFEC5B-CA58-4AD6-B3AE-F2B74A871248}" srcOrd="3" destOrd="0" presId="urn:microsoft.com/office/officeart/2018/5/layout/IconCircleLabelList"/>
    <dgm:cxn modelId="{CE3273C2-8293-4733-8229-46B0667DB662}" type="presParOf" srcId="{6C0E2052-82EF-4FCA-A09F-3CFD0D705231}" destId="{C6A83F5D-6BD6-4BAC-A6FD-5601895E2F1D}" srcOrd="1" destOrd="0" presId="urn:microsoft.com/office/officeart/2018/5/layout/IconCircleLabelList"/>
    <dgm:cxn modelId="{FB08FFCE-B6D1-4511-A3BE-54054CE31B53}" type="presParOf" srcId="{6C0E2052-82EF-4FCA-A09F-3CFD0D705231}" destId="{B374956F-E8E3-4477-BCBD-D6BEE0FF664B}" srcOrd="2" destOrd="0" presId="urn:microsoft.com/office/officeart/2018/5/layout/IconCircleLabelList"/>
    <dgm:cxn modelId="{05A7F052-778C-487D-B1D7-E446F0280F51}" type="presParOf" srcId="{B374956F-E8E3-4477-BCBD-D6BEE0FF664B}" destId="{616D826A-B248-4F73-BD83-68360431B261}" srcOrd="0" destOrd="0" presId="urn:microsoft.com/office/officeart/2018/5/layout/IconCircleLabelList"/>
    <dgm:cxn modelId="{3ECEAF75-B701-49D0-870D-F6E1CC69902D}" type="presParOf" srcId="{B374956F-E8E3-4477-BCBD-D6BEE0FF664B}" destId="{54CAF97B-2537-4BFE-AFC1-D0C1F5424A38}" srcOrd="1" destOrd="0" presId="urn:microsoft.com/office/officeart/2018/5/layout/IconCircleLabelList"/>
    <dgm:cxn modelId="{3346B175-95E7-40D6-9533-B72C4714559B}" type="presParOf" srcId="{B374956F-E8E3-4477-BCBD-D6BEE0FF664B}" destId="{4295D0FB-4B67-4A42-96CE-1D76275F25C1}" srcOrd="2" destOrd="0" presId="urn:microsoft.com/office/officeart/2018/5/layout/IconCircleLabelList"/>
    <dgm:cxn modelId="{75A1BC52-05B4-46A4-8CFF-08157E5DFE1D}" type="presParOf" srcId="{B374956F-E8E3-4477-BCBD-D6BEE0FF664B}" destId="{6CE8E229-2D98-4E9A-A1A6-663217DDD0C0}" srcOrd="3" destOrd="0" presId="urn:microsoft.com/office/officeart/2018/5/layout/IconCircleLabelList"/>
    <dgm:cxn modelId="{1194230E-5DC3-402E-A1A3-72971794CF05}" type="presParOf" srcId="{6C0E2052-82EF-4FCA-A09F-3CFD0D705231}" destId="{A1C97012-6D3B-4E97-8C4E-4F62C2FDFC5B}" srcOrd="3" destOrd="0" presId="urn:microsoft.com/office/officeart/2018/5/layout/IconCircleLabelList"/>
    <dgm:cxn modelId="{9EAAECF7-710B-4B06-BB23-08965BAF52EB}" type="presParOf" srcId="{6C0E2052-82EF-4FCA-A09F-3CFD0D705231}" destId="{05D2085D-8C7A-413A-B795-569C77FEF9EB}" srcOrd="4" destOrd="0" presId="urn:microsoft.com/office/officeart/2018/5/layout/IconCircleLabelList"/>
    <dgm:cxn modelId="{7983B4EA-BAB9-46C4-8849-AC24330941A0}" type="presParOf" srcId="{05D2085D-8C7A-413A-B795-569C77FEF9EB}" destId="{40331A74-CCEC-4590-9BC3-00ADD661E734}" srcOrd="0" destOrd="0" presId="urn:microsoft.com/office/officeart/2018/5/layout/IconCircleLabelList"/>
    <dgm:cxn modelId="{3BC1ADA3-AFEF-48C1-8BFD-B91C962177C7}" type="presParOf" srcId="{05D2085D-8C7A-413A-B795-569C77FEF9EB}" destId="{8DEFA86D-A40C-4965-83BF-79ABBD993C94}" srcOrd="1" destOrd="0" presId="urn:microsoft.com/office/officeart/2018/5/layout/IconCircleLabelList"/>
    <dgm:cxn modelId="{2A2F48FD-121F-4999-BEBF-FE74E77B131D}" type="presParOf" srcId="{05D2085D-8C7A-413A-B795-569C77FEF9EB}" destId="{8A97C12E-2172-4D9E-96CE-5B57EB6B3D10}" srcOrd="2" destOrd="0" presId="urn:microsoft.com/office/officeart/2018/5/layout/IconCircleLabelList"/>
    <dgm:cxn modelId="{41DD3BF9-3D5D-448B-8715-4426F19EEFC6}" type="presParOf" srcId="{05D2085D-8C7A-413A-B795-569C77FEF9EB}" destId="{99AD2DCC-CBCA-49CB-94C2-EC5F1C305137}" srcOrd="3" destOrd="0" presId="urn:microsoft.com/office/officeart/2018/5/layout/IconCircleLabelList"/>
    <dgm:cxn modelId="{0978B98A-5872-4BF1-AE80-20EB2B392AFF}" type="presParOf" srcId="{6C0E2052-82EF-4FCA-A09F-3CFD0D705231}" destId="{BDD91C33-9295-4601-BA8B-0BCE8AB3BCAD}" srcOrd="5" destOrd="0" presId="urn:microsoft.com/office/officeart/2018/5/layout/IconCircleLabelList"/>
    <dgm:cxn modelId="{2C082F01-747E-43E5-B1E1-28BDEA1F84EB}" type="presParOf" srcId="{6C0E2052-82EF-4FCA-A09F-3CFD0D705231}" destId="{F4CEFC0B-6541-4ED6-94CC-793296631635}" srcOrd="6" destOrd="0" presId="urn:microsoft.com/office/officeart/2018/5/layout/IconCircleLabelList"/>
    <dgm:cxn modelId="{F6AC7A44-B286-4471-A5F6-579534E18D6D}" type="presParOf" srcId="{F4CEFC0B-6541-4ED6-94CC-793296631635}" destId="{A546255A-4273-4AC1-9719-0C0C9F7C8231}" srcOrd="0" destOrd="0" presId="urn:microsoft.com/office/officeart/2018/5/layout/IconCircleLabelList"/>
    <dgm:cxn modelId="{22C79C75-9E2B-40DC-A3EA-234950C7D38D}" type="presParOf" srcId="{F4CEFC0B-6541-4ED6-94CC-793296631635}" destId="{50EF3BFC-ADA5-4DCE-ABD6-FDA3B881DB06}" srcOrd="1" destOrd="0" presId="urn:microsoft.com/office/officeart/2018/5/layout/IconCircleLabelList"/>
    <dgm:cxn modelId="{B8E8C8A6-E148-4349-914E-2ECE40CE5559}" type="presParOf" srcId="{F4CEFC0B-6541-4ED6-94CC-793296631635}" destId="{617BD8DF-88BA-4F00-83FE-2862C71F164D}" srcOrd="2" destOrd="0" presId="urn:microsoft.com/office/officeart/2018/5/layout/IconCircleLabelList"/>
    <dgm:cxn modelId="{3E47D508-3E53-4AFD-9FA3-2E5E399127FB}" type="presParOf" srcId="{F4CEFC0B-6541-4ED6-94CC-793296631635}" destId="{053D2507-E695-41E1-BB9F-AFBD6037664F}" srcOrd="3" destOrd="0" presId="urn:microsoft.com/office/officeart/2018/5/layout/IconCircleLabelList"/>
    <dgm:cxn modelId="{8D2B90E2-8E10-4F58-B80B-F1BF4126A4FE}" type="presParOf" srcId="{6C0E2052-82EF-4FCA-A09F-3CFD0D705231}" destId="{AB11923D-6075-478B-A797-E9F8FA921306}" srcOrd="7" destOrd="0" presId="urn:microsoft.com/office/officeart/2018/5/layout/IconCircleLabelList"/>
    <dgm:cxn modelId="{9104455C-4E5D-4589-B6D1-729A6EE30F5C}" type="presParOf" srcId="{6C0E2052-82EF-4FCA-A09F-3CFD0D705231}" destId="{B4C9618C-2B92-4055-8728-0E0DF65186DD}" srcOrd="8" destOrd="0" presId="urn:microsoft.com/office/officeart/2018/5/layout/IconCircleLabelList"/>
    <dgm:cxn modelId="{8EB54D5C-A2BA-4EAC-8A04-7C1630A26593}" type="presParOf" srcId="{B4C9618C-2B92-4055-8728-0E0DF65186DD}" destId="{49F491A4-1DC5-487B-A878-7B346BAA5B9A}" srcOrd="0" destOrd="0" presId="urn:microsoft.com/office/officeart/2018/5/layout/IconCircleLabelList"/>
    <dgm:cxn modelId="{C957FBDE-F61C-4503-9EF3-F28126F92FC8}" type="presParOf" srcId="{B4C9618C-2B92-4055-8728-0E0DF65186DD}" destId="{20570DB4-14F8-4CA6-B9A3-F0F7A348CBC3}" srcOrd="1" destOrd="0" presId="urn:microsoft.com/office/officeart/2018/5/layout/IconCircleLabelList"/>
    <dgm:cxn modelId="{2D8CD99F-DB50-4BBD-AAC5-C2E545FAD0AA}" type="presParOf" srcId="{B4C9618C-2B92-4055-8728-0E0DF65186DD}" destId="{359C3DDA-867D-42A0-94E2-08F8DADB710F}" srcOrd="2" destOrd="0" presId="urn:microsoft.com/office/officeart/2018/5/layout/IconCircleLabelList"/>
    <dgm:cxn modelId="{63731C8F-3A91-446B-B830-73D2DCD824DE}" type="presParOf" srcId="{B4C9618C-2B92-4055-8728-0E0DF65186DD}" destId="{7B41F77B-4825-42F4-880B-BE79088675C9}" srcOrd="3" destOrd="0" presId="urn:microsoft.com/office/officeart/2018/5/layout/IconCircleLabelList"/>
    <dgm:cxn modelId="{D0C6969D-23C8-4CB2-895D-4F34866EFEC0}" type="presParOf" srcId="{6C0E2052-82EF-4FCA-A09F-3CFD0D705231}" destId="{197A0F32-5D28-45D6-8C4D-AB1E6E784005}" srcOrd="9" destOrd="0" presId="urn:microsoft.com/office/officeart/2018/5/layout/IconCircleLabelList"/>
    <dgm:cxn modelId="{0A1D72FD-4AA2-40BB-8C06-9F2919EA18EE}" type="presParOf" srcId="{6C0E2052-82EF-4FCA-A09F-3CFD0D705231}" destId="{B7228D7B-CDCE-4391-ACAB-32506989DEF3}" srcOrd="10" destOrd="0" presId="urn:microsoft.com/office/officeart/2018/5/layout/IconCircleLabelList"/>
    <dgm:cxn modelId="{203DA229-A361-4590-B398-0092FD47B551}" type="presParOf" srcId="{B7228D7B-CDCE-4391-ACAB-32506989DEF3}" destId="{3A05509D-D518-41C8-A8BD-33E38750E6BB}" srcOrd="0" destOrd="0" presId="urn:microsoft.com/office/officeart/2018/5/layout/IconCircleLabelList"/>
    <dgm:cxn modelId="{967C91B9-1B63-412C-8BD0-8BA0CA9C0080}" type="presParOf" srcId="{B7228D7B-CDCE-4391-ACAB-32506989DEF3}" destId="{47CF5F6A-C4CD-4A94-A0CD-1EFC369DF26B}" srcOrd="1" destOrd="0" presId="urn:microsoft.com/office/officeart/2018/5/layout/IconCircleLabelList"/>
    <dgm:cxn modelId="{058C2B3B-3B10-48BB-B405-D55F0EDEE483}" type="presParOf" srcId="{B7228D7B-CDCE-4391-ACAB-32506989DEF3}" destId="{0DD948A6-A753-4F9F-83FE-6CDD1272A811}" srcOrd="2" destOrd="0" presId="urn:microsoft.com/office/officeart/2018/5/layout/IconCircleLabelList"/>
    <dgm:cxn modelId="{79EAA196-ACF5-4F68-B2AD-395267145C13}" type="presParOf" srcId="{B7228D7B-CDCE-4391-ACAB-32506989DEF3}" destId="{5DAB06E8-C8BA-40D3-BF09-6CE740F22173}" srcOrd="3" destOrd="0" presId="urn:microsoft.com/office/officeart/2018/5/layout/IconCircleLabelList"/>
    <dgm:cxn modelId="{FDE5FFFD-6C76-4402-815E-789C1BB9E5E5}" type="presParOf" srcId="{6C0E2052-82EF-4FCA-A09F-3CFD0D705231}" destId="{2DA730CD-1996-49B9-8FD1-F74A92D1001E}" srcOrd="11" destOrd="0" presId="urn:microsoft.com/office/officeart/2018/5/layout/IconCircleLabelList"/>
    <dgm:cxn modelId="{7856371B-1372-41B0-889A-6C49182E7A34}" type="presParOf" srcId="{6C0E2052-82EF-4FCA-A09F-3CFD0D705231}" destId="{3E0C1D63-63DE-4FB3-A7C2-986DEE080F21}" srcOrd="12" destOrd="0" presId="urn:microsoft.com/office/officeart/2018/5/layout/IconCircleLabelList"/>
    <dgm:cxn modelId="{9FBB811C-4FBD-4D6D-82D0-DE39CCB99603}" type="presParOf" srcId="{3E0C1D63-63DE-4FB3-A7C2-986DEE080F21}" destId="{6BE44811-CDB0-406B-8C53-F1C71FEC28A4}" srcOrd="0" destOrd="0" presId="urn:microsoft.com/office/officeart/2018/5/layout/IconCircleLabelList"/>
    <dgm:cxn modelId="{20CF3732-F8CC-4D3D-8E12-2FBD577838F7}" type="presParOf" srcId="{3E0C1D63-63DE-4FB3-A7C2-986DEE080F21}" destId="{1B3EA3B5-7C74-4A4B-A2E1-A5F4AC1C2978}" srcOrd="1" destOrd="0" presId="urn:microsoft.com/office/officeart/2018/5/layout/IconCircleLabelList"/>
    <dgm:cxn modelId="{3C6D1E43-CA54-42D5-9E29-7131A0ACE051}" type="presParOf" srcId="{3E0C1D63-63DE-4FB3-A7C2-986DEE080F21}" destId="{3B4CCD8B-43F8-4D87-B2EF-C6A0341F3C08}" srcOrd="2" destOrd="0" presId="urn:microsoft.com/office/officeart/2018/5/layout/IconCircleLabelList"/>
    <dgm:cxn modelId="{20C0A17B-84A2-4AF1-AA32-21466133DFEF}" type="presParOf" srcId="{3E0C1D63-63DE-4FB3-A7C2-986DEE080F21}" destId="{2019C3BD-7F74-482F-93D1-842C46383B34}"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EE5A48-D133-4009-B138-0094E68C3EE6}">
      <dsp:nvSpPr>
        <dsp:cNvPr id="0" name=""/>
        <dsp:cNvSpPr/>
      </dsp:nvSpPr>
      <dsp:spPr>
        <a:xfrm>
          <a:off x="435608" y="423863"/>
          <a:ext cx="912498" cy="91249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9C25B3-2E32-4782-83FC-D821803E4BBF}">
      <dsp:nvSpPr>
        <dsp:cNvPr id="0" name=""/>
        <dsp:cNvSpPr/>
      </dsp:nvSpPr>
      <dsp:spPr>
        <a:xfrm>
          <a:off x="625930" y="625150"/>
          <a:ext cx="523564" cy="5235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C8DFEC5B-CA58-4AD6-B3AE-F2B74A871248}">
      <dsp:nvSpPr>
        <dsp:cNvPr id="0" name=""/>
        <dsp:cNvSpPr/>
      </dsp:nvSpPr>
      <dsp:spPr>
        <a:xfrm>
          <a:off x="169480" y="1551558"/>
          <a:ext cx="1495898" cy="578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kern="1200" dirty="0">
              <a:latin typeface="Calibri" panose="020F0502020204030204" pitchFamily="34" charset="0"/>
              <a:cs typeface="Calibri" panose="020F0502020204030204" pitchFamily="34" charset="0"/>
            </a:rPr>
            <a:t>Objectives of the Project:</a:t>
          </a:r>
          <a:endParaRPr lang="en-US" sz="1200" kern="1200" dirty="0">
            <a:latin typeface="Calibri" panose="020F0502020204030204" pitchFamily="34" charset="0"/>
            <a:cs typeface="Calibri" panose="020F0502020204030204" pitchFamily="34" charset="0"/>
          </a:endParaRPr>
        </a:p>
      </dsp:txBody>
      <dsp:txXfrm>
        <a:off x="169480" y="1551558"/>
        <a:ext cx="1495898" cy="578493"/>
      </dsp:txXfrm>
    </dsp:sp>
    <dsp:sp modelId="{616D826A-B248-4F73-BD83-68360431B261}">
      <dsp:nvSpPr>
        <dsp:cNvPr id="0" name=""/>
        <dsp:cNvSpPr/>
      </dsp:nvSpPr>
      <dsp:spPr>
        <a:xfrm>
          <a:off x="1891368" y="442306"/>
          <a:ext cx="912498" cy="91249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CAF97B-2537-4BFE-AFC1-D0C1F5424A38}">
      <dsp:nvSpPr>
        <dsp:cNvPr id="0" name=""/>
        <dsp:cNvSpPr/>
      </dsp:nvSpPr>
      <dsp:spPr>
        <a:xfrm>
          <a:off x="2108335" y="623129"/>
          <a:ext cx="523564" cy="5235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6CE8E229-2D98-4E9A-A1A6-663217DDD0C0}">
      <dsp:nvSpPr>
        <dsp:cNvPr id="0" name=""/>
        <dsp:cNvSpPr/>
      </dsp:nvSpPr>
      <dsp:spPr>
        <a:xfrm>
          <a:off x="1584226" y="1570763"/>
          <a:ext cx="1596377" cy="559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kern="1200" dirty="0">
              <a:latin typeface="Calibri" panose="020F0502020204030204" pitchFamily="34" charset="0"/>
              <a:cs typeface="Calibri" panose="020F0502020204030204" pitchFamily="34" charset="0"/>
            </a:rPr>
            <a:t>1.To Investigate Feasibility:</a:t>
          </a:r>
        </a:p>
        <a:p>
          <a:pPr marL="0" lvl="0" indent="0" algn="ctr" defTabSz="533400">
            <a:lnSpc>
              <a:spcPct val="100000"/>
            </a:lnSpc>
            <a:spcBef>
              <a:spcPct val="0"/>
            </a:spcBef>
            <a:spcAft>
              <a:spcPct val="35000"/>
            </a:spcAft>
            <a:buNone/>
            <a:defRPr cap="all"/>
          </a:pPr>
          <a:r>
            <a:rPr lang="en-US" sz="1200" b="1" kern="1200" dirty="0"/>
            <a:t> </a:t>
          </a:r>
          <a:endParaRPr lang="en-US" sz="1200" kern="1200" dirty="0">
            <a:latin typeface="Calibri" panose="020F0502020204030204" pitchFamily="34" charset="0"/>
            <a:cs typeface="Calibri" panose="020F0502020204030204" pitchFamily="34" charset="0"/>
          </a:endParaRPr>
        </a:p>
      </dsp:txBody>
      <dsp:txXfrm>
        <a:off x="1584226" y="1570763"/>
        <a:ext cx="1596377" cy="559287"/>
      </dsp:txXfrm>
    </dsp:sp>
    <dsp:sp modelId="{40331A74-CCEC-4590-9BC3-00ADD661E734}">
      <dsp:nvSpPr>
        <dsp:cNvPr id="0" name=""/>
        <dsp:cNvSpPr/>
      </dsp:nvSpPr>
      <dsp:spPr>
        <a:xfrm>
          <a:off x="3418444" y="437359"/>
          <a:ext cx="912498" cy="91249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EFA86D-A40C-4965-83BF-79ABBD993C94}">
      <dsp:nvSpPr>
        <dsp:cNvPr id="0" name=""/>
        <dsp:cNvSpPr/>
      </dsp:nvSpPr>
      <dsp:spPr>
        <a:xfrm>
          <a:off x="3606081" y="622631"/>
          <a:ext cx="523564" cy="52356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99AD2DCC-CBCA-49CB-94C2-EC5F1C305137}">
      <dsp:nvSpPr>
        <dsp:cNvPr id="0" name=""/>
        <dsp:cNvSpPr/>
      </dsp:nvSpPr>
      <dsp:spPr>
        <a:xfrm>
          <a:off x="2776427" y="1528337"/>
          <a:ext cx="2258043" cy="578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kern="1200" dirty="0">
              <a:latin typeface="Calibri" panose="020F0502020204030204" pitchFamily="34" charset="0"/>
              <a:cs typeface="Calibri" panose="020F0502020204030204" pitchFamily="34" charset="0"/>
            </a:rPr>
            <a:t>2.To Develop a </a:t>
          </a:r>
        </a:p>
        <a:p>
          <a:pPr marL="0" lvl="0" indent="0" algn="ctr" defTabSz="533400">
            <a:lnSpc>
              <a:spcPct val="100000"/>
            </a:lnSpc>
            <a:spcBef>
              <a:spcPct val="0"/>
            </a:spcBef>
            <a:spcAft>
              <a:spcPct val="35000"/>
            </a:spcAft>
            <a:buNone/>
            <a:defRPr cap="all"/>
          </a:pPr>
          <a:r>
            <a:rPr lang="en-US" sz="1200" b="1" kern="1200" dirty="0">
              <a:latin typeface="Calibri" panose="020F0502020204030204" pitchFamily="34" charset="0"/>
              <a:cs typeface="Calibri" panose="020F0502020204030204" pitchFamily="34" charset="0"/>
            </a:rPr>
            <a:t>Deep Learning Model:</a:t>
          </a:r>
          <a:r>
            <a:rPr lang="en-US" sz="1200" kern="1200" dirty="0">
              <a:latin typeface="Calibri" panose="020F0502020204030204" pitchFamily="34" charset="0"/>
              <a:cs typeface="Calibri" panose="020F0502020204030204" pitchFamily="34" charset="0"/>
            </a:rPr>
            <a:t> </a:t>
          </a:r>
        </a:p>
      </dsp:txBody>
      <dsp:txXfrm>
        <a:off x="2776427" y="1528337"/>
        <a:ext cx="2258043" cy="578493"/>
      </dsp:txXfrm>
    </dsp:sp>
    <dsp:sp modelId="{A546255A-4273-4AC1-9719-0C0C9F7C8231}">
      <dsp:nvSpPr>
        <dsp:cNvPr id="0" name=""/>
        <dsp:cNvSpPr/>
      </dsp:nvSpPr>
      <dsp:spPr>
        <a:xfrm>
          <a:off x="5033751" y="444330"/>
          <a:ext cx="912498" cy="91249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EF3BFC-ADA5-4DCE-ABD6-FDA3B881DB06}">
      <dsp:nvSpPr>
        <dsp:cNvPr id="0" name=""/>
        <dsp:cNvSpPr/>
      </dsp:nvSpPr>
      <dsp:spPr>
        <a:xfrm>
          <a:off x="5226826" y="646307"/>
          <a:ext cx="523564" cy="52356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053D2507-E695-41E1-BB9F-AFBD6037664F}">
      <dsp:nvSpPr>
        <dsp:cNvPr id="0" name=""/>
        <dsp:cNvSpPr/>
      </dsp:nvSpPr>
      <dsp:spPr>
        <a:xfrm>
          <a:off x="4386806" y="1518219"/>
          <a:ext cx="2344775" cy="578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kern="1200" dirty="0">
              <a:latin typeface="Calibri" panose="020F0502020204030204" pitchFamily="34" charset="0"/>
              <a:cs typeface="Calibri" panose="020F0502020204030204" pitchFamily="34" charset="0"/>
            </a:rPr>
            <a:t>3.To Build and Curate</a:t>
          </a:r>
        </a:p>
        <a:p>
          <a:pPr marL="0" lvl="0" indent="0" algn="ctr" defTabSz="533400">
            <a:lnSpc>
              <a:spcPct val="100000"/>
            </a:lnSpc>
            <a:spcBef>
              <a:spcPct val="0"/>
            </a:spcBef>
            <a:spcAft>
              <a:spcPct val="35000"/>
            </a:spcAft>
            <a:buNone/>
            <a:defRPr cap="all"/>
          </a:pPr>
          <a:r>
            <a:rPr lang="en-US" sz="1200" b="1" kern="1200" dirty="0">
              <a:latin typeface="Calibri" panose="020F0502020204030204" pitchFamily="34" charset="0"/>
              <a:cs typeface="Calibri" panose="020F0502020204030204" pitchFamily="34" charset="0"/>
            </a:rPr>
            <a:t> a Dataset:</a:t>
          </a:r>
          <a:endParaRPr lang="en-US" sz="1200" kern="1200" dirty="0">
            <a:latin typeface="Calibri" panose="020F0502020204030204" pitchFamily="34" charset="0"/>
            <a:cs typeface="Calibri" panose="020F0502020204030204" pitchFamily="34" charset="0"/>
          </a:endParaRPr>
        </a:p>
      </dsp:txBody>
      <dsp:txXfrm>
        <a:off x="4386806" y="1518219"/>
        <a:ext cx="2344775" cy="578493"/>
      </dsp:txXfrm>
    </dsp:sp>
    <dsp:sp modelId="{49F491A4-1DC5-487B-A878-7B346BAA5B9A}">
      <dsp:nvSpPr>
        <dsp:cNvPr id="0" name=""/>
        <dsp:cNvSpPr/>
      </dsp:nvSpPr>
      <dsp:spPr>
        <a:xfrm>
          <a:off x="6774064" y="471477"/>
          <a:ext cx="912498" cy="91249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570DB4-14F8-4CA6-B9A3-F0F7A348CBC3}">
      <dsp:nvSpPr>
        <dsp:cNvPr id="0" name=""/>
        <dsp:cNvSpPr/>
      </dsp:nvSpPr>
      <dsp:spPr>
        <a:xfrm>
          <a:off x="6982183" y="694072"/>
          <a:ext cx="523564" cy="52356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7B41F77B-4825-42F4-880B-BE79088675C9}">
      <dsp:nvSpPr>
        <dsp:cNvPr id="0" name=""/>
        <dsp:cNvSpPr/>
      </dsp:nvSpPr>
      <dsp:spPr>
        <a:xfrm>
          <a:off x="6110919" y="1506354"/>
          <a:ext cx="2565196" cy="578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kern="1200" dirty="0">
              <a:latin typeface="Calibri" panose="020F0502020204030204" pitchFamily="34" charset="0"/>
              <a:cs typeface="Calibri" panose="020F0502020204030204" pitchFamily="34" charset="0"/>
            </a:rPr>
            <a:t>4.To Train and Optimize </a:t>
          </a:r>
        </a:p>
        <a:p>
          <a:pPr marL="0" lvl="0" indent="0" algn="ctr" defTabSz="533400">
            <a:lnSpc>
              <a:spcPct val="100000"/>
            </a:lnSpc>
            <a:spcBef>
              <a:spcPct val="0"/>
            </a:spcBef>
            <a:spcAft>
              <a:spcPct val="35000"/>
            </a:spcAft>
            <a:buNone/>
            <a:defRPr cap="all"/>
          </a:pPr>
          <a:r>
            <a:rPr lang="en-US" sz="1200" b="1" kern="1200" dirty="0">
              <a:latin typeface="Calibri" panose="020F0502020204030204" pitchFamily="34" charset="0"/>
              <a:cs typeface="Calibri" panose="020F0502020204030204" pitchFamily="34" charset="0"/>
            </a:rPr>
            <a:t>the Model:</a:t>
          </a:r>
          <a:endParaRPr lang="en-US" sz="1200" kern="1200" dirty="0">
            <a:latin typeface="Calibri" panose="020F0502020204030204" pitchFamily="34" charset="0"/>
            <a:cs typeface="Calibri" panose="020F0502020204030204" pitchFamily="34" charset="0"/>
          </a:endParaRPr>
        </a:p>
      </dsp:txBody>
      <dsp:txXfrm>
        <a:off x="6110919" y="1506354"/>
        <a:ext cx="2565196" cy="578493"/>
      </dsp:txXfrm>
    </dsp:sp>
    <dsp:sp modelId="{3A05509D-D518-41C8-A8BD-33E38750E6BB}">
      <dsp:nvSpPr>
        <dsp:cNvPr id="0" name=""/>
        <dsp:cNvSpPr/>
      </dsp:nvSpPr>
      <dsp:spPr>
        <a:xfrm>
          <a:off x="8528241" y="473611"/>
          <a:ext cx="912498" cy="91249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CF5F6A-C4CD-4A94-A0CD-1EFC369DF26B}">
      <dsp:nvSpPr>
        <dsp:cNvPr id="0" name=""/>
        <dsp:cNvSpPr/>
      </dsp:nvSpPr>
      <dsp:spPr>
        <a:xfrm>
          <a:off x="8729537" y="694075"/>
          <a:ext cx="523564" cy="52356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5DAB06E8-C8BA-40D3-BF09-6CE740F22173}">
      <dsp:nvSpPr>
        <dsp:cNvPr id="0" name=""/>
        <dsp:cNvSpPr/>
      </dsp:nvSpPr>
      <dsp:spPr>
        <a:xfrm>
          <a:off x="7735495" y="1520208"/>
          <a:ext cx="2626767" cy="578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kern="1200" dirty="0">
              <a:latin typeface="Calibri" panose="020F0502020204030204" pitchFamily="34" charset="0"/>
              <a:cs typeface="Calibri" panose="020F0502020204030204" pitchFamily="34" charset="0"/>
            </a:rPr>
            <a:t>5.To Evaluate</a:t>
          </a:r>
        </a:p>
        <a:p>
          <a:pPr marL="0" lvl="0" indent="0" algn="ctr" defTabSz="533400">
            <a:lnSpc>
              <a:spcPct val="100000"/>
            </a:lnSpc>
            <a:spcBef>
              <a:spcPct val="0"/>
            </a:spcBef>
            <a:spcAft>
              <a:spcPct val="35000"/>
            </a:spcAft>
            <a:buNone/>
            <a:defRPr cap="all"/>
          </a:pPr>
          <a:r>
            <a:rPr lang="en-US" sz="1200" b="1" kern="1200" dirty="0">
              <a:latin typeface="Calibri" panose="020F0502020204030204" pitchFamily="34" charset="0"/>
              <a:cs typeface="Calibri" panose="020F0502020204030204" pitchFamily="34" charset="0"/>
            </a:rPr>
            <a:t> Model Accuracy:</a:t>
          </a:r>
          <a:endParaRPr lang="en-US" sz="1200" kern="1200" dirty="0">
            <a:latin typeface="Calibri" panose="020F0502020204030204" pitchFamily="34" charset="0"/>
            <a:cs typeface="Calibri" panose="020F0502020204030204" pitchFamily="34" charset="0"/>
          </a:endParaRPr>
        </a:p>
      </dsp:txBody>
      <dsp:txXfrm>
        <a:off x="7735495" y="1520208"/>
        <a:ext cx="2626767" cy="578493"/>
      </dsp:txXfrm>
    </dsp:sp>
    <dsp:sp modelId="{6BE44811-CDB0-406B-8C53-F1C71FEC28A4}">
      <dsp:nvSpPr>
        <dsp:cNvPr id="0" name=""/>
        <dsp:cNvSpPr/>
      </dsp:nvSpPr>
      <dsp:spPr>
        <a:xfrm>
          <a:off x="10364379" y="498486"/>
          <a:ext cx="912498" cy="91249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3EA3B5-7C74-4A4B-A2E1-A5F4AC1C2978}">
      <dsp:nvSpPr>
        <dsp:cNvPr id="0" name=""/>
        <dsp:cNvSpPr/>
      </dsp:nvSpPr>
      <dsp:spPr>
        <a:xfrm>
          <a:off x="10570294" y="707723"/>
          <a:ext cx="523564" cy="523564"/>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2019C3BD-7F74-482F-93D1-842C46383B34}">
      <dsp:nvSpPr>
        <dsp:cNvPr id="0" name=""/>
        <dsp:cNvSpPr/>
      </dsp:nvSpPr>
      <dsp:spPr>
        <a:xfrm>
          <a:off x="9809034" y="1492767"/>
          <a:ext cx="2240870" cy="642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kern="1200" dirty="0">
              <a:latin typeface="Calibri" panose="020F0502020204030204" pitchFamily="34" charset="0"/>
              <a:cs typeface="Calibri" panose="020F0502020204030204" pitchFamily="34" charset="0"/>
            </a:rPr>
            <a:t>6.To Explore Practical Applications</a:t>
          </a:r>
          <a:r>
            <a:rPr lang="en-US" sz="1200" b="1" kern="1200" dirty="0"/>
            <a:t>:</a:t>
          </a:r>
          <a:endParaRPr lang="en-US" sz="1200" kern="1200" dirty="0"/>
        </a:p>
      </dsp:txBody>
      <dsp:txXfrm>
        <a:off x="9809034" y="1492767"/>
        <a:ext cx="2240870" cy="642371"/>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12/30/2025</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271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12/30/2025</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065736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12/30/2025</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90039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12/30/2025</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044767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12/30/2025</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068653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12/30/2025</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740476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12/30/2025</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84882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12/30/2025</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503628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12/30/2025</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0832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12/30/2025</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67051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12/30/2025</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386859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lIns="109728" tIns="109728" rIns="109728" bIns="91440"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lIns="109728" tIns="109728" rIns="109728"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lIns="109728" tIns="109728" rIns="109728" bIns="91440" anchor="ctr"/>
          <a:lstStyle>
            <a:lvl1pPr algn="l">
              <a:defRPr sz="1200" spc="100">
                <a:solidFill>
                  <a:schemeClr val="tx1">
                    <a:tint val="75000"/>
                  </a:schemeClr>
                </a:solidFill>
              </a:defRPr>
            </a:lvl1pPr>
          </a:lstStyle>
          <a:p>
            <a:fld id="{02AC24A9-CCB6-4F8D-B8DB-C2F3692CFA5A}" type="datetimeFigureOut">
              <a:rPr lang="en-US" smtClean="0"/>
              <a:t>12/30/2025</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lIns="109728" tIns="109728" rIns="109728" bIns="91440" anchor="ctr"/>
          <a:lstStyle>
            <a:lvl1pPr algn="ctr">
              <a:defRPr sz="1200" spc="1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lIns="109728" tIns="109728" rIns="109728" bIns="91440" anchor="ctr"/>
          <a:lstStyle>
            <a:lvl1pPr algn="r">
              <a:defRPr sz="1200" spc="1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308864050"/>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0" r:id="rId6"/>
    <p:sldLayoutId id="2147483726" r:id="rId7"/>
    <p:sldLayoutId id="2147483727" r:id="rId8"/>
    <p:sldLayoutId id="2147483728" r:id="rId9"/>
    <p:sldLayoutId id="2147483729" r:id="rId10"/>
    <p:sldLayoutId id="2147483731" r:id="rId11"/>
  </p:sldLayoutIdLst>
  <p:txStyles>
    <p:titleStyle>
      <a:lvl1pPr algn="l" defTabSz="914400" rtl="0" eaLnBrk="1" latinLnBrk="0" hangingPunct="1">
        <a:lnSpc>
          <a:spcPct val="90000"/>
        </a:lnSpc>
        <a:spcBef>
          <a:spcPct val="0"/>
        </a:spcBef>
        <a:buNone/>
        <a:defRPr sz="4000" b="1" kern="1200" spc="18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spc="15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spc="15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spc="15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spc="15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spc="15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F6893F1-BC85-2287-32EA-E413C902C777}"/>
              </a:ext>
            </a:extLst>
          </p:cNvPr>
          <p:cNvSpPr>
            <a:spLocks noGrp="1"/>
          </p:cNvSpPr>
          <p:nvPr>
            <p:ph type="ctrTitle"/>
          </p:nvPr>
        </p:nvSpPr>
        <p:spPr>
          <a:xfrm>
            <a:off x="477981" y="1122363"/>
            <a:ext cx="5260210" cy="3204134"/>
          </a:xfrm>
        </p:spPr>
        <p:txBody>
          <a:bodyPr anchor="b">
            <a:normAutofit/>
          </a:bodyPr>
          <a:lstStyle/>
          <a:p>
            <a:pPr algn="ctr">
              <a:lnSpc>
                <a:spcPct val="150000"/>
              </a:lnSpc>
            </a:pPr>
            <a:r>
              <a:rPr lang="en-US" sz="2400" dirty="0">
                <a:latin typeface="Times New Roman"/>
                <a:cs typeface="Times New Roman"/>
              </a:rPr>
              <a:t>BLOOD GROUP PREDICTION BY FINGER PRINT IMAGES USING DEEP LEARNING TECHNIQUES</a:t>
            </a:r>
          </a:p>
        </p:txBody>
      </p:sp>
      <p:sp>
        <p:nvSpPr>
          <p:cNvPr id="24" name="Rectangle 2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495198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fingerprint scanning on a screen&#10;&#10;Description automatically generated">
            <a:extLst>
              <a:ext uri="{FF2B5EF4-FFF2-40B4-BE49-F238E27FC236}">
                <a16:creationId xmlns:a16="http://schemas.microsoft.com/office/drawing/2014/main" id="{8F73676E-599D-723E-EF0A-5567D709C117}"/>
              </a:ext>
            </a:extLst>
          </p:cNvPr>
          <p:cNvPicPr>
            <a:picLocks noChangeAspect="1"/>
          </p:cNvPicPr>
          <p:nvPr/>
        </p:nvPicPr>
        <p:blipFill>
          <a:blip r:embed="rId2"/>
          <a:srcRect t="2641" r="1" b="1"/>
          <a:stretch/>
        </p:blipFill>
        <p:spPr>
          <a:xfrm>
            <a:off x="3522468" y="10"/>
            <a:ext cx="8669532" cy="6857990"/>
          </a:xfrm>
          <a:prstGeom prst="rect">
            <a:avLst/>
          </a:prstGeom>
        </p:spPr>
      </p:pic>
      <p:sp>
        <p:nvSpPr>
          <p:cNvPr id="11" name="Rectangle 10">
            <a:extLst>
              <a:ext uri="{FF2B5EF4-FFF2-40B4-BE49-F238E27FC236}">
                <a16:creationId xmlns:a16="http://schemas.microsoft.com/office/drawing/2014/main" id="{8A6DB0E6-E65F-4229-A5A0-2500203B6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23896E1-B134-648D-35B9-85F5094B6078}"/>
              </a:ext>
            </a:extLst>
          </p:cNvPr>
          <p:cNvSpPr>
            <a:spLocks noGrp="1"/>
          </p:cNvSpPr>
          <p:nvPr>
            <p:ph type="title"/>
          </p:nvPr>
        </p:nvSpPr>
        <p:spPr>
          <a:xfrm>
            <a:off x="371094" y="1161288"/>
            <a:ext cx="3438144" cy="1124712"/>
          </a:xfrm>
        </p:spPr>
        <p:txBody>
          <a:bodyPr anchor="b">
            <a:normAutofit/>
          </a:bodyPr>
          <a:lstStyle/>
          <a:p>
            <a:r>
              <a:rPr lang="en-US" sz="2800" dirty="0">
                <a:solidFill>
                  <a:schemeClr val="bg1"/>
                </a:solidFill>
              </a:rPr>
              <a:t>Introduction:</a:t>
            </a:r>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C830EC7-7D47-207E-19E4-FC041B871B82}"/>
              </a:ext>
            </a:extLst>
          </p:cNvPr>
          <p:cNvSpPr>
            <a:spLocks noGrp="1"/>
          </p:cNvSpPr>
          <p:nvPr>
            <p:ph idx="1"/>
          </p:nvPr>
        </p:nvSpPr>
        <p:spPr>
          <a:xfrm>
            <a:off x="144247" y="2678297"/>
            <a:ext cx="8906988" cy="3207258"/>
          </a:xfrm>
        </p:spPr>
        <p:txBody>
          <a:bodyPr lIns="109728" tIns="109728" rIns="109728" bIns="91440" anchor="t">
            <a:noAutofit/>
          </a:bodyPr>
          <a:lstStyle/>
          <a:p>
            <a:pPr algn="just">
              <a:lnSpc>
                <a:spcPct val="150000"/>
              </a:lnSpc>
            </a:pPr>
            <a:r>
              <a:rPr lang="en-US" sz="1200" dirty="0">
                <a:solidFill>
                  <a:schemeClr val="bg1"/>
                </a:solidFill>
                <a:effectLst/>
                <a:latin typeface="Times New Roman" panose="02020603050405020304" pitchFamily="18" charset="0"/>
                <a:ea typeface="SimSun" panose="02010600030101010101" pitchFamily="2" charset="-122"/>
              </a:rPr>
              <a:t>Blood group prediction is a crucial process in medical diagnostics and emergency care, traditionally carried out through serological tests that require blood samples and specialized laboratory equipment. These conventional methods, sometimes inaccurate, are invasive, time-consuming, and may be impractical in situations where resources are limited or unavailable in urgent situations. This research explores a novel approach of using fingerprint images for blood group detection, applying deep learning, specifically Convolutional Neural Networks (CNN) with good architectures. By analyzing the unique patterns in fingerprints, these models may offer a non-invasive, faster, and more efficient alternative to traditional methods. This study examines the feasibility of this approach, providing insights into how deep learning could potentially be utilized for blood group prediction. </a:t>
            </a:r>
            <a:endParaRPr lang="en-US" sz="1200" dirty="0">
              <a:solidFill>
                <a:schemeClr val="bg1"/>
              </a:solidFill>
              <a:latin typeface="Calibri"/>
              <a:ea typeface="Calibri"/>
              <a:cs typeface="Calibri"/>
            </a:endParaRPr>
          </a:p>
        </p:txBody>
      </p:sp>
    </p:spTree>
    <p:extLst>
      <p:ext uri="{BB962C8B-B14F-4D97-AF65-F5344CB8AC3E}">
        <p14:creationId xmlns:p14="http://schemas.microsoft.com/office/powerpoint/2010/main" val="1218339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B7211-6131-F194-4308-0BDDD6CB8871}"/>
              </a:ext>
            </a:extLst>
          </p:cNvPr>
          <p:cNvSpPr>
            <a:spLocks noGrp="1"/>
          </p:cNvSpPr>
          <p:nvPr>
            <p:ph type="title"/>
          </p:nvPr>
        </p:nvSpPr>
        <p:spPr>
          <a:xfrm>
            <a:off x="868680" y="1259552"/>
            <a:ext cx="3099816" cy="1709928"/>
          </a:xfrm>
        </p:spPr>
        <p:txBody>
          <a:bodyPr>
            <a:normAutofit/>
          </a:bodyPr>
          <a:lstStyle/>
          <a:p>
            <a:r>
              <a:rPr lang="en-US" sz="3200" dirty="0"/>
              <a:t>Types of Blood Group in Real Time</a:t>
            </a:r>
          </a:p>
        </p:txBody>
      </p:sp>
      <p:sp>
        <p:nvSpPr>
          <p:cNvPr id="5" name="Text Placeholder 4">
            <a:extLst>
              <a:ext uri="{FF2B5EF4-FFF2-40B4-BE49-F238E27FC236}">
                <a16:creationId xmlns:a16="http://schemas.microsoft.com/office/drawing/2014/main" id="{F0416804-2F3B-4B8D-B018-AB729566BBE6}"/>
              </a:ext>
            </a:extLst>
          </p:cNvPr>
          <p:cNvSpPr>
            <a:spLocks noGrp="1"/>
          </p:cNvSpPr>
          <p:nvPr>
            <p:ph type="body" sz="half" idx="2"/>
          </p:nvPr>
        </p:nvSpPr>
        <p:spPr>
          <a:xfrm>
            <a:off x="713641" y="2886502"/>
            <a:ext cx="3510341" cy="2615866"/>
          </a:xfrm>
        </p:spPr>
        <p:txBody>
          <a:bodyPr>
            <a:normAutofit fontScale="77500" lnSpcReduction="20000"/>
          </a:bodyPr>
          <a:lstStyle/>
          <a:p>
            <a:pPr algn="just">
              <a:lnSpc>
                <a:spcPct val="160000"/>
              </a:lnSpc>
            </a:pPr>
            <a:r>
              <a:rPr lang="en-US" sz="1800" dirty="0">
                <a:latin typeface="Calibri"/>
                <a:ea typeface="+mn-lt"/>
                <a:cs typeface="+mn-lt"/>
              </a:rPr>
              <a:t>In real-life, blood groups are classified based on the presence of specific antigens on the surface of red blood cells. The two most important blood group systems are the ABO system and the Rh (Rhesus) factor. Here’s a breakdown</a:t>
            </a:r>
            <a:endParaRPr lang="en-US" sz="1800" dirty="0">
              <a:latin typeface="Calibri"/>
              <a:ea typeface="Calibri"/>
              <a:cs typeface="Calibri"/>
            </a:endParaRPr>
          </a:p>
          <a:p>
            <a:pPr>
              <a:lnSpc>
                <a:spcPct val="160000"/>
              </a:lnSpc>
            </a:pPr>
            <a:endParaRPr lang="en-IN" dirty="0"/>
          </a:p>
        </p:txBody>
      </p:sp>
      <p:pic>
        <p:nvPicPr>
          <p:cNvPr id="10" name="Content Placeholder 9" descr="A group of blood types&#10;&#10;Description automatically generated">
            <a:extLst>
              <a:ext uri="{FF2B5EF4-FFF2-40B4-BE49-F238E27FC236}">
                <a16:creationId xmlns:a16="http://schemas.microsoft.com/office/drawing/2014/main" id="{589174A3-5F6A-4E77-BE78-EEE7130C6E45}"/>
              </a:ext>
            </a:extLst>
          </p:cNvPr>
          <p:cNvPicPr>
            <a:picLocks noGrp="1" noChangeAspect="1"/>
          </p:cNvPicPr>
          <p:nvPr>
            <p:ph idx="1"/>
          </p:nvPr>
        </p:nvPicPr>
        <p:blipFill>
          <a:blip r:embed="rId2"/>
          <a:stretch>
            <a:fillRect/>
          </a:stretch>
        </p:blipFill>
        <p:spPr>
          <a:xfrm>
            <a:off x="4817164" y="1099930"/>
            <a:ext cx="7010401" cy="4711148"/>
          </a:xfrm>
          <a:prstGeom prst="rect">
            <a:avLst/>
          </a:prstGeom>
          <a:ln>
            <a:noFill/>
          </a:ln>
          <a:effectLst>
            <a:softEdge rad="112500"/>
          </a:effectLst>
        </p:spPr>
      </p:pic>
    </p:spTree>
    <p:extLst>
      <p:ext uri="{BB962C8B-B14F-4D97-AF65-F5344CB8AC3E}">
        <p14:creationId xmlns:p14="http://schemas.microsoft.com/office/powerpoint/2010/main" val="531062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lose-up of a person&amp;#39;s hands&#10;&#10;Description automatically generated">
            <a:extLst>
              <a:ext uri="{FF2B5EF4-FFF2-40B4-BE49-F238E27FC236}">
                <a16:creationId xmlns:a16="http://schemas.microsoft.com/office/drawing/2014/main" id="{C3478152-547D-D495-B9FB-5B8D340CBF1A}"/>
              </a:ext>
            </a:extLst>
          </p:cNvPr>
          <p:cNvPicPr>
            <a:picLocks noChangeAspect="1"/>
          </p:cNvPicPr>
          <p:nvPr/>
        </p:nvPicPr>
        <p:blipFill>
          <a:blip r:embed="rId2"/>
          <a:srcRect l="23318" r="5582"/>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361D73-9E3B-C351-2B3E-F90218454C39}"/>
              </a:ext>
            </a:extLst>
          </p:cNvPr>
          <p:cNvSpPr>
            <a:spLocks noGrp="1"/>
          </p:cNvSpPr>
          <p:nvPr>
            <p:ph type="title"/>
          </p:nvPr>
        </p:nvSpPr>
        <p:spPr>
          <a:xfrm>
            <a:off x="424815" y="189651"/>
            <a:ext cx="6466315" cy="727036"/>
          </a:xfrm>
        </p:spPr>
        <p:txBody>
          <a:bodyPr anchor="b">
            <a:normAutofit fontScale="90000"/>
          </a:bodyPr>
          <a:lstStyle/>
          <a:p>
            <a:pPr>
              <a:lnSpc>
                <a:spcPct val="150000"/>
              </a:lnSpc>
            </a:pPr>
            <a:r>
              <a:rPr lang="en-US" sz="2200" dirty="0"/>
              <a:t>Existing methods to identify Blood Group</a:t>
            </a:r>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57503C9-11C7-535F-3B05-A1413A4B8872}"/>
              </a:ext>
            </a:extLst>
          </p:cNvPr>
          <p:cNvSpPr>
            <a:spLocks noGrp="1"/>
          </p:cNvSpPr>
          <p:nvPr>
            <p:ph idx="1"/>
          </p:nvPr>
        </p:nvSpPr>
        <p:spPr>
          <a:xfrm>
            <a:off x="165686" y="1106328"/>
            <a:ext cx="6361010" cy="4717774"/>
          </a:xfrm>
        </p:spPr>
        <p:txBody>
          <a:bodyPr lIns="109728" tIns="109728" rIns="109728" bIns="91440" anchor="t">
            <a:noAutofit/>
          </a:bodyPr>
          <a:lstStyle/>
          <a:p>
            <a:pPr marL="0" indent="0" algn="just">
              <a:lnSpc>
                <a:spcPct val="150000"/>
              </a:lnSpc>
              <a:buNone/>
            </a:pPr>
            <a:r>
              <a:rPr lang="en-US" sz="1600" b="1" dirty="0">
                <a:latin typeface="Calibri"/>
                <a:ea typeface="+mn-lt"/>
                <a:cs typeface="+mn-lt"/>
              </a:rPr>
              <a:t>. </a:t>
            </a:r>
            <a:r>
              <a:rPr lang="en-US" sz="1200" b="1" dirty="0">
                <a:latin typeface="Calibri"/>
                <a:ea typeface="+mn-lt"/>
                <a:cs typeface="+mn-lt"/>
              </a:rPr>
              <a:t> </a:t>
            </a:r>
            <a:r>
              <a:rPr lang="en-US" sz="1200" b="1" dirty="0">
                <a:latin typeface="Times New Roman" panose="02020603050405020304" pitchFamily="18" charset="0"/>
                <a:ea typeface="+mn-lt"/>
                <a:cs typeface="Times New Roman" panose="02020603050405020304" pitchFamily="18" charset="0"/>
              </a:rPr>
              <a:t>Serological Testing (Traditional)</a:t>
            </a:r>
            <a:endParaRPr lang="en-US" sz="1200" dirty="0">
              <a:latin typeface="Times New Roman" panose="02020603050405020304" pitchFamily="18" charset="0"/>
              <a:ea typeface="Calibri"/>
              <a:cs typeface="Times New Roman" panose="02020603050405020304" pitchFamily="18" charset="0"/>
            </a:endParaRPr>
          </a:p>
          <a:p>
            <a:pPr marL="0" indent="0" algn="just">
              <a:lnSpc>
                <a:spcPct val="150000"/>
              </a:lnSpc>
              <a:buNone/>
            </a:pPr>
            <a:r>
              <a:rPr lang="en-US" sz="1200" b="1" dirty="0">
                <a:latin typeface="Times New Roman" panose="02020603050405020304" pitchFamily="18" charset="0"/>
                <a:ea typeface="+mn-lt"/>
                <a:cs typeface="Times New Roman" panose="02020603050405020304" pitchFamily="18" charset="0"/>
              </a:rPr>
              <a:t> 1) ABO &amp; Rh Typing</a:t>
            </a:r>
            <a:r>
              <a:rPr lang="en-US" sz="1200" dirty="0">
                <a:latin typeface="Times New Roman" panose="02020603050405020304" pitchFamily="18" charset="0"/>
                <a:ea typeface="+mn-lt"/>
                <a:cs typeface="Times New Roman" panose="02020603050405020304" pitchFamily="18" charset="0"/>
              </a:rPr>
              <a:t>: Uses antigen-antibody reactions to detect blood type based on clumping.</a:t>
            </a:r>
            <a:endParaRPr lang="en-US" sz="1200" dirty="0">
              <a:latin typeface="Times New Roman" panose="02020603050405020304" pitchFamily="18" charset="0"/>
              <a:ea typeface="Calibri"/>
              <a:cs typeface="Times New Roman" panose="02020603050405020304" pitchFamily="18" charset="0"/>
            </a:endParaRPr>
          </a:p>
          <a:p>
            <a:pPr marL="0" indent="0" algn="just">
              <a:lnSpc>
                <a:spcPct val="150000"/>
              </a:lnSpc>
              <a:buNone/>
            </a:pPr>
            <a:r>
              <a:rPr lang="en-US" sz="1200" b="1" dirty="0">
                <a:latin typeface="Times New Roman" panose="02020603050405020304" pitchFamily="18" charset="0"/>
                <a:ea typeface="+mn-lt"/>
                <a:cs typeface="Times New Roman" panose="02020603050405020304" pitchFamily="18" charset="0"/>
              </a:rPr>
              <a:t> 2) Cross-Matching</a:t>
            </a:r>
            <a:r>
              <a:rPr lang="en-US" sz="1200" dirty="0">
                <a:latin typeface="Times New Roman" panose="02020603050405020304" pitchFamily="18" charset="0"/>
                <a:ea typeface="+mn-lt"/>
                <a:cs typeface="Times New Roman" panose="02020603050405020304" pitchFamily="18" charset="0"/>
              </a:rPr>
              <a:t>: Ensures compatibility before transfusions.</a:t>
            </a:r>
            <a:endParaRPr lang="en-US" sz="1200" dirty="0">
              <a:latin typeface="Times New Roman" panose="02020603050405020304" pitchFamily="18" charset="0"/>
              <a:ea typeface="Calibri"/>
              <a:cs typeface="Times New Roman" panose="02020603050405020304" pitchFamily="18" charset="0"/>
            </a:endParaRPr>
          </a:p>
          <a:p>
            <a:pPr algn="just">
              <a:lnSpc>
                <a:spcPct val="150000"/>
              </a:lnSpc>
            </a:pPr>
            <a:r>
              <a:rPr lang="en-US" sz="1200" b="1" dirty="0">
                <a:latin typeface="Times New Roman" panose="02020603050405020304" pitchFamily="18" charset="0"/>
                <a:ea typeface="+mn-lt"/>
                <a:cs typeface="Times New Roman" panose="02020603050405020304" pitchFamily="18" charset="0"/>
              </a:rPr>
              <a:t>Automated Blood Typing Systems</a:t>
            </a:r>
            <a:endParaRPr lang="en-US" sz="1200" dirty="0">
              <a:latin typeface="Times New Roman" panose="02020603050405020304" pitchFamily="18" charset="0"/>
              <a:ea typeface="Calibri"/>
              <a:cs typeface="Times New Roman" panose="02020603050405020304" pitchFamily="18" charset="0"/>
            </a:endParaRPr>
          </a:p>
          <a:p>
            <a:pPr marL="0" indent="0" algn="just">
              <a:lnSpc>
                <a:spcPct val="150000"/>
              </a:lnSpc>
              <a:buNone/>
            </a:pPr>
            <a:r>
              <a:rPr lang="en-US" sz="1200" b="1" dirty="0">
                <a:latin typeface="Times New Roman" panose="02020603050405020304" pitchFamily="18" charset="0"/>
                <a:ea typeface="+mn-lt"/>
                <a:cs typeface="Times New Roman" panose="02020603050405020304" pitchFamily="18" charset="0"/>
              </a:rPr>
              <a:t>    Automated Analyzers</a:t>
            </a:r>
            <a:r>
              <a:rPr lang="en-US" sz="1200" dirty="0">
                <a:latin typeface="Times New Roman" panose="02020603050405020304" pitchFamily="18" charset="0"/>
                <a:ea typeface="+mn-lt"/>
                <a:cs typeface="Times New Roman" panose="02020603050405020304" pitchFamily="18" charset="0"/>
              </a:rPr>
              <a:t>: Rapid and accurate results using optical sensors in labs and hospitals.</a:t>
            </a:r>
            <a:endParaRPr lang="en-US" sz="1200" dirty="0">
              <a:latin typeface="Times New Roman" panose="02020603050405020304" pitchFamily="18" charset="0"/>
              <a:ea typeface="Calibri"/>
              <a:cs typeface="Times New Roman" panose="02020603050405020304" pitchFamily="18" charset="0"/>
            </a:endParaRPr>
          </a:p>
          <a:p>
            <a:pPr algn="just">
              <a:lnSpc>
                <a:spcPct val="150000"/>
              </a:lnSpc>
            </a:pPr>
            <a:r>
              <a:rPr lang="en-US" sz="1200" b="1" dirty="0">
                <a:latin typeface="Times New Roman" panose="02020603050405020304" pitchFamily="18" charset="0"/>
                <a:ea typeface="+mn-lt"/>
                <a:cs typeface="Times New Roman" panose="02020603050405020304" pitchFamily="18" charset="0"/>
              </a:rPr>
              <a:t>Molecular (DNA-Based) Testing</a:t>
            </a:r>
            <a:endParaRPr lang="en-US" sz="1200" dirty="0">
              <a:latin typeface="Times New Roman" panose="02020603050405020304" pitchFamily="18" charset="0"/>
              <a:ea typeface="Calibri"/>
              <a:cs typeface="Times New Roman" panose="02020603050405020304" pitchFamily="18" charset="0"/>
            </a:endParaRPr>
          </a:p>
          <a:p>
            <a:pPr marL="0" indent="0" algn="just">
              <a:lnSpc>
                <a:spcPct val="150000"/>
              </a:lnSpc>
              <a:buNone/>
            </a:pPr>
            <a:r>
              <a:rPr lang="en-US" sz="1200" dirty="0">
                <a:latin typeface="Times New Roman" panose="02020603050405020304" pitchFamily="18" charset="0"/>
                <a:ea typeface="+mn-lt"/>
                <a:cs typeface="Times New Roman" panose="02020603050405020304" pitchFamily="18" charset="0"/>
              </a:rPr>
              <a:t>    Analyzes genes responsible for blood group antigens; useful in complex cases.</a:t>
            </a:r>
            <a:endParaRPr lang="en-US" sz="1200" dirty="0">
              <a:latin typeface="Times New Roman" panose="02020603050405020304" pitchFamily="18" charset="0"/>
              <a:ea typeface="Calibri"/>
              <a:cs typeface="Times New Roman" panose="02020603050405020304" pitchFamily="18" charset="0"/>
            </a:endParaRPr>
          </a:p>
          <a:p>
            <a:pPr algn="just">
              <a:lnSpc>
                <a:spcPct val="150000"/>
              </a:lnSpc>
            </a:pPr>
            <a:r>
              <a:rPr lang="en-US" sz="1200" b="1" dirty="0">
                <a:latin typeface="Times New Roman" panose="02020603050405020304" pitchFamily="18" charset="0"/>
                <a:ea typeface="+mn-lt"/>
                <a:cs typeface="Times New Roman" panose="02020603050405020304" pitchFamily="18" charset="0"/>
              </a:rPr>
              <a:t>Rapid Blood Typing Kits</a:t>
            </a:r>
          </a:p>
          <a:p>
            <a:pPr marL="0" indent="0" algn="just">
              <a:lnSpc>
                <a:spcPct val="150000"/>
              </a:lnSpc>
              <a:buNone/>
            </a:pPr>
            <a:r>
              <a:rPr lang="en-US" sz="1200" dirty="0">
                <a:latin typeface="Times New Roman" panose="02020603050405020304" pitchFamily="18" charset="0"/>
                <a:ea typeface="Calibri"/>
                <a:cs typeface="Times New Roman" panose="02020603050405020304" pitchFamily="18" charset="0"/>
              </a:rPr>
              <a:t>Portable and quick, used in emergencies and field settings.</a:t>
            </a:r>
          </a:p>
          <a:p>
            <a:pPr marL="0" indent="0">
              <a:lnSpc>
                <a:spcPct val="150000"/>
              </a:lnSpc>
              <a:buNone/>
            </a:pPr>
            <a:r>
              <a:rPr lang="en-US" sz="1200" dirty="0">
                <a:latin typeface="Calibri"/>
                <a:ea typeface="+mn-lt"/>
                <a:cs typeface="+mn-lt"/>
              </a:rPr>
              <a:t>   </a:t>
            </a:r>
            <a:endParaRPr lang="en-US" sz="1200" dirty="0">
              <a:latin typeface="Neue Haas Grotesk Text Pro"/>
              <a:ea typeface="Calibri"/>
              <a:cs typeface="Calibri"/>
            </a:endParaRPr>
          </a:p>
          <a:p>
            <a:pPr>
              <a:lnSpc>
                <a:spcPct val="150000"/>
              </a:lnSpc>
            </a:pPr>
            <a:endParaRPr lang="en-US" sz="800" dirty="0"/>
          </a:p>
        </p:txBody>
      </p:sp>
    </p:spTree>
    <p:extLst>
      <p:ext uri="{BB962C8B-B14F-4D97-AF65-F5344CB8AC3E}">
        <p14:creationId xmlns:p14="http://schemas.microsoft.com/office/powerpoint/2010/main" val="331875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F40726-9B19-4165-9C26-757D16E19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12EDDD4D-9FCB-4202-7E3F-FA91D27D57B4}"/>
              </a:ext>
            </a:extLst>
          </p:cNvPr>
          <p:cNvSpPr>
            <a:spLocks noGrp="1"/>
          </p:cNvSpPr>
          <p:nvPr>
            <p:ph type="title"/>
          </p:nvPr>
        </p:nvSpPr>
        <p:spPr>
          <a:xfrm>
            <a:off x="612647" y="1078992"/>
            <a:ext cx="4529195" cy="1865376"/>
          </a:xfrm>
        </p:spPr>
        <p:txBody>
          <a:bodyPr anchor="t">
            <a:normAutofit/>
          </a:bodyPr>
          <a:lstStyle/>
          <a:p>
            <a:r>
              <a:rPr lang="en-US" sz="3600" dirty="0"/>
              <a:t>Drawbacks on Present Methods</a:t>
            </a:r>
          </a:p>
        </p:txBody>
      </p:sp>
      <p:sp>
        <p:nvSpPr>
          <p:cNvPr id="3" name="Content Placeholder 2">
            <a:extLst>
              <a:ext uri="{FF2B5EF4-FFF2-40B4-BE49-F238E27FC236}">
                <a16:creationId xmlns:a16="http://schemas.microsoft.com/office/drawing/2014/main" id="{8277B01D-C8DF-5103-98FD-AA0CF1390535}"/>
              </a:ext>
            </a:extLst>
          </p:cNvPr>
          <p:cNvSpPr>
            <a:spLocks noGrp="1"/>
          </p:cNvSpPr>
          <p:nvPr>
            <p:ph idx="1"/>
          </p:nvPr>
        </p:nvSpPr>
        <p:spPr>
          <a:xfrm>
            <a:off x="4969565" y="1078991"/>
            <a:ext cx="6957391" cy="5401322"/>
          </a:xfrm>
        </p:spPr>
        <p:txBody>
          <a:bodyPr lIns="109728" tIns="109728" rIns="109728" bIns="91440">
            <a:normAutofit fontScale="85000" lnSpcReduction="20000"/>
          </a:bodyPr>
          <a:lstStyle/>
          <a:p>
            <a:pPr algn="just">
              <a:lnSpc>
                <a:spcPct val="170000"/>
              </a:lnSpc>
              <a:buAutoNum type="arabicParenR"/>
            </a:pPr>
            <a:r>
              <a:rPr lang="en-US" sz="1400" b="1" dirty="0">
                <a:latin typeface="Calibri"/>
                <a:ea typeface="+mn-lt"/>
                <a:cs typeface="+mn-lt"/>
              </a:rPr>
              <a:t>Serological Testing</a:t>
            </a:r>
            <a:endParaRPr lang="en-US" sz="1400" dirty="0">
              <a:latin typeface="Calibri"/>
              <a:ea typeface="Calibri"/>
              <a:cs typeface="Calibri"/>
            </a:endParaRPr>
          </a:p>
          <a:p>
            <a:pPr marL="0" indent="0" algn="just">
              <a:lnSpc>
                <a:spcPct val="170000"/>
              </a:lnSpc>
              <a:buNone/>
            </a:pPr>
            <a:r>
              <a:rPr lang="en-US" sz="1400" dirty="0">
                <a:latin typeface="Calibri"/>
                <a:ea typeface="+mn-lt"/>
                <a:cs typeface="+mn-lt"/>
              </a:rPr>
              <a:t>. Requires blood samples; invasive and uncomfortable.</a:t>
            </a:r>
            <a:endParaRPr lang="en-US" sz="1400" dirty="0">
              <a:latin typeface="Calibri"/>
              <a:ea typeface="Calibri"/>
              <a:cs typeface="Calibri"/>
            </a:endParaRPr>
          </a:p>
          <a:p>
            <a:pPr marL="0" indent="0" algn="just">
              <a:lnSpc>
                <a:spcPct val="170000"/>
              </a:lnSpc>
              <a:buNone/>
            </a:pPr>
            <a:r>
              <a:rPr lang="en-US" sz="1400" dirty="0">
                <a:latin typeface="Calibri"/>
                <a:ea typeface="+mn-lt"/>
                <a:cs typeface="+mn-lt"/>
              </a:rPr>
              <a:t>. Relies on lab facilities, which may be unavailable in remote or emergency situations.</a:t>
            </a:r>
            <a:endParaRPr lang="en-US" sz="1400" dirty="0">
              <a:latin typeface="Calibri"/>
              <a:ea typeface="Calibri"/>
              <a:cs typeface="Calibri"/>
            </a:endParaRPr>
          </a:p>
          <a:p>
            <a:pPr marL="0" indent="0" algn="just">
              <a:lnSpc>
                <a:spcPct val="170000"/>
              </a:lnSpc>
              <a:buNone/>
            </a:pPr>
            <a:r>
              <a:rPr lang="en-US" sz="1400" b="1" dirty="0">
                <a:latin typeface="Calibri"/>
                <a:ea typeface="+mn-lt"/>
                <a:cs typeface="+mn-lt"/>
              </a:rPr>
              <a:t>2) Automated Blood Typing Systems</a:t>
            </a:r>
            <a:endParaRPr lang="en-US" sz="1400" dirty="0">
              <a:latin typeface="Calibri"/>
              <a:ea typeface="Calibri"/>
              <a:cs typeface="Calibri"/>
            </a:endParaRPr>
          </a:p>
          <a:p>
            <a:pPr marL="0" indent="0" algn="just">
              <a:lnSpc>
                <a:spcPct val="170000"/>
              </a:lnSpc>
              <a:buNone/>
            </a:pPr>
            <a:r>
              <a:rPr lang="en-US" sz="1400" dirty="0">
                <a:latin typeface="Calibri"/>
                <a:ea typeface="+mn-lt"/>
                <a:cs typeface="+mn-lt"/>
              </a:rPr>
              <a:t>. High cost; equipment is expensive and requires maintenance.</a:t>
            </a:r>
            <a:endParaRPr lang="en-US" sz="1400" dirty="0">
              <a:latin typeface="Calibri"/>
              <a:ea typeface="Calibri"/>
              <a:cs typeface="Calibri"/>
            </a:endParaRPr>
          </a:p>
          <a:p>
            <a:pPr marL="0" indent="0" algn="just">
              <a:lnSpc>
                <a:spcPct val="170000"/>
              </a:lnSpc>
              <a:buNone/>
            </a:pPr>
            <a:r>
              <a:rPr lang="en-US" sz="1400" dirty="0">
                <a:latin typeface="Calibri"/>
                <a:ea typeface="+mn-lt"/>
                <a:cs typeface="+mn-lt"/>
              </a:rPr>
              <a:t>. Primarily suitable for large hospitals and labs, not accessible everywhere.</a:t>
            </a:r>
            <a:endParaRPr lang="en-US" sz="1400" dirty="0">
              <a:latin typeface="Calibri"/>
              <a:ea typeface="Calibri"/>
              <a:cs typeface="Calibri"/>
            </a:endParaRPr>
          </a:p>
          <a:p>
            <a:pPr marL="0" indent="0" algn="just">
              <a:lnSpc>
                <a:spcPct val="170000"/>
              </a:lnSpc>
              <a:buNone/>
            </a:pPr>
            <a:r>
              <a:rPr lang="en-US" sz="1400" b="1" dirty="0">
                <a:latin typeface="Calibri"/>
                <a:ea typeface="+mn-lt"/>
                <a:cs typeface="+mn-lt"/>
              </a:rPr>
              <a:t>3) Molecular (DNA-Based) Testing</a:t>
            </a:r>
            <a:endParaRPr lang="en-US" sz="1400" dirty="0">
              <a:latin typeface="Calibri"/>
              <a:ea typeface="Calibri"/>
              <a:cs typeface="Calibri"/>
            </a:endParaRPr>
          </a:p>
          <a:p>
            <a:pPr marL="0" indent="0" algn="just">
              <a:lnSpc>
                <a:spcPct val="170000"/>
              </a:lnSpc>
              <a:buNone/>
            </a:pPr>
            <a:r>
              <a:rPr lang="en-US" sz="1400" dirty="0">
                <a:latin typeface="Calibri"/>
                <a:ea typeface="+mn-lt"/>
                <a:cs typeface="+mn-lt"/>
              </a:rPr>
              <a:t>. Complex, time-consuming, and costly.</a:t>
            </a:r>
            <a:endParaRPr lang="en-US" sz="1400" dirty="0">
              <a:latin typeface="Calibri"/>
              <a:ea typeface="Calibri"/>
              <a:cs typeface="Calibri"/>
            </a:endParaRPr>
          </a:p>
          <a:p>
            <a:pPr marL="0" indent="0" algn="just">
              <a:lnSpc>
                <a:spcPct val="170000"/>
              </a:lnSpc>
              <a:buNone/>
            </a:pPr>
            <a:r>
              <a:rPr lang="en-US" sz="1400" dirty="0">
                <a:latin typeface="Calibri"/>
                <a:ea typeface="+mn-lt"/>
                <a:cs typeface="+mn-lt"/>
              </a:rPr>
              <a:t>. Not practical for routine use due to specialized equipment needs.</a:t>
            </a:r>
            <a:endParaRPr lang="en-US" sz="1400" dirty="0">
              <a:latin typeface="Calibri"/>
              <a:ea typeface="Calibri"/>
              <a:cs typeface="Calibri"/>
            </a:endParaRPr>
          </a:p>
          <a:p>
            <a:pPr marL="0" indent="0" algn="just">
              <a:lnSpc>
                <a:spcPct val="170000"/>
              </a:lnSpc>
              <a:buNone/>
            </a:pPr>
            <a:r>
              <a:rPr lang="en-US" sz="1400" b="1" dirty="0">
                <a:latin typeface="Calibri"/>
                <a:ea typeface="+mn-lt"/>
                <a:cs typeface="+mn-lt"/>
              </a:rPr>
              <a:t>4) Rapid Blood Typing Kits</a:t>
            </a:r>
            <a:endParaRPr lang="en-US" sz="1400" dirty="0">
              <a:latin typeface="Calibri"/>
              <a:ea typeface="Calibri"/>
              <a:cs typeface="Calibri"/>
            </a:endParaRPr>
          </a:p>
          <a:p>
            <a:pPr marL="0" indent="0" algn="just">
              <a:lnSpc>
                <a:spcPct val="170000"/>
              </a:lnSpc>
              <a:buNone/>
            </a:pPr>
            <a:r>
              <a:rPr lang="en-US" sz="1400" dirty="0">
                <a:latin typeface="Calibri"/>
                <a:ea typeface="+mn-lt"/>
                <a:cs typeface="+mn-lt"/>
              </a:rPr>
              <a:t>. Limited accuracy compared to lab tests.</a:t>
            </a:r>
            <a:endParaRPr lang="en-US" sz="1400" dirty="0">
              <a:latin typeface="Neue Haas Grotesk Text Pro"/>
              <a:ea typeface="+mn-lt"/>
              <a:cs typeface="+mn-lt"/>
            </a:endParaRPr>
          </a:p>
          <a:p>
            <a:pPr marL="0" indent="0" algn="just">
              <a:lnSpc>
                <a:spcPct val="170000"/>
              </a:lnSpc>
              <a:buNone/>
            </a:pPr>
            <a:r>
              <a:rPr lang="en-US" sz="1400" dirty="0">
                <a:latin typeface="Calibri"/>
              </a:rPr>
              <a:t>. Kits may use only single time which cause in wastage of kits.</a:t>
            </a:r>
          </a:p>
          <a:p>
            <a:pPr marL="0" indent="0" algn="just">
              <a:lnSpc>
                <a:spcPct val="170000"/>
              </a:lnSpc>
              <a:buNone/>
            </a:pPr>
            <a:endParaRPr lang="en-US" sz="1400" dirty="0"/>
          </a:p>
          <a:p>
            <a:pPr>
              <a:lnSpc>
                <a:spcPct val="100000"/>
              </a:lnSpc>
              <a:buAutoNum type="arabicParenR"/>
            </a:pPr>
            <a:endParaRPr lang="en-US" sz="1400" dirty="0"/>
          </a:p>
        </p:txBody>
      </p:sp>
      <p:pic>
        <p:nvPicPr>
          <p:cNvPr id="5" name="Picture 4" descr="A magnifying glass over a chalkboard with words&#10;&#10;Description automatically generated">
            <a:extLst>
              <a:ext uri="{FF2B5EF4-FFF2-40B4-BE49-F238E27FC236}">
                <a16:creationId xmlns:a16="http://schemas.microsoft.com/office/drawing/2014/main" id="{AE06F3D7-209C-ADF7-D1F4-07DFBDC58C16}"/>
              </a:ext>
            </a:extLst>
          </p:cNvPr>
          <p:cNvPicPr>
            <a:picLocks noChangeAspect="1"/>
          </p:cNvPicPr>
          <p:nvPr/>
        </p:nvPicPr>
        <p:blipFill>
          <a:blip r:embed="rId2"/>
          <a:srcRect r="2" b="1627"/>
          <a:stretch/>
        </p:blipFill>
        <p:spPr>
          <a:xfrm>
            <a:off x="172278" y="2279374"/>
            <a:ext cx="4684644" cy="4260574"/>
          </a:xfrm>
          <a:prstGeom prst="ellipse">
            <a:avLst/>
          </a:prstGeom>
          <a:ln>
            <a:noFill/>
          </a:ln>
          <a:effectLst>
            <a:softEdge rad="112500"/>
          </a:effectLst>
        </p:spPr>
      </p:pic>
      <p:sp>
        <p:nvSpPr>
          <p:cNvPr id="12" name="Rectangle 11">
            <a:extLst>
              <a:ext uri="{FF2B5EF4-FFF2-40B4-BE49-F238E27FC236}">
                <a16:creationId xmlns:a16="http://schemas.microsoft.com/office/drawing/2014/main" id="{21B3977D-00DD-E3F0-9E7E-2330CBFDF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9448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FDAC3-A4E4-12C0-745D-9AE8AB3A040C}"/>
              </a:ext>
            </a:extLst>
          </p:cNvPr>
          <p:cNvSpPr>
            <a:spLocks noGrp="1"/>
          </p:cNvSpPr>
          <p:nvPr>
            <p:ph type="title"/>
          </p:nvPr>
        </p:nvSpPr>
        <p:spPr/>
        <p:txBody>
          <a:bodyPr/>
          <a:lstStyle/>
          <a:p>
            <a:r>
              <a:rPr lang="en-US" dirty="0"/>
              <a:t>Literature Survey:</a:t>
            </a:r>
          </a:p>
        </p:txBody>
      </p:sp>
      <p:graphicFrame>
        <p:nvGraphicFramePr>
          <p:cNvPr id="6" name="Table 6">
            <a:extLst>
              <a:ext uri="{FF2B5EF4-FFF2-40B4-BE49-F238E27FC236}">
                <a16:creationId xmlns:a16="http://schemas.microsoft.com/office/drawing/2014/main" id="{B7310F85-CE28-F0FC-9943-B64A5D6F3838}"/>
              </a:ext>
            </a:extLst>
          </p:cNvPr>
          <p:cNvGraphicFramePr>
            <a:graphicFrameLocks noGrp="1"/>
          </p:cNvGraphicFramePr>
          <p:nvPr>
            <p:ph idx="1"/>
            <p:extLst>
              <p:ext uri="{D42A27DB-BD31-4B8C-83A1-F6EECF244321}">
                <p14:modId xmlns:p14="http://schemas.microsoft.com/office/powerpoint/2010/main" val="1934499195"/>
              </p:ext>
            </p:extLst>
          </p:nvPr>
        </p:nvGraphicFramePr>
        <p:xfrm>
          <a:off x="318052" y="1907176"/>
          <a:ext cx="11330609" cy="4664694"/>
        </p:xfrm>
        <a:graphic>
          <a:graphicData uri="http://schemas.openxmlformats.org/drawingml/2006/table">
            <a:tbl>
              <a:tblPr firstRow="1" bandRow="1">
                <a:tableStyleId>{5C22544A-7EE6-4342-B048-85BDC9FD1C3A}</a:tableStyleId>
              </a:tblPr>
              <a:tblGrid>
                <a:gridCol w="4051617">
                  <a:extLst>
                    <a:ext uri="{9D8B030D-6E8A-4147-A177-3AD203B41FA5}">
                      <a16:colId xmlns:a16="http://schemas.microsoft.com/office/drawing/2014/main" val="3804915083"/>
                    </a:ext>
                  </a:extLst>
                </a:gridCol>
                <a:gridCol w="3681815">
                  <a:extLst>
                    <a:ext uri="{9D8B030D-6E8A-4147-A177-3AD203B41FA5}">
                      <a16:colId xmlns:a16="http://schemas.microsoft.com/office/drawing/2014/main" val="2103481148"/>
                    </a:ext>
                  </a:extLst>
                </a:gridCol>
                <a:gridCol w="1724529">
                  <a:extLst>
                    <a:ext uri="{9D8B030D-6E8A-4147-A177-3AD203B41FA5}">
                      <a16:colId xmlns:a16="http://schemas.microsoft.com/office/drawing/2014/main" val="4291839998"/>
                    </a:ext>
                  </a:extLst>
                </a:gridCol>
                <a:gridCol w="1872648">
                  <a:extLst>
                    <a:ext uri="{9D8B030D-6E8A-4147-A177-3AD203B41FA5}">
                      <a16:colId xmlns:a16="http://schemas.microsoft.com/office/drawing/2014/main" val="163381649"/>
                    </a:ext>
                  </a:extLst>
                </a:gridCol>
              </a:tblGrid>
              <a:tr h="776389">
                <a:tc>
                  <a:txBody>
                    <a:bodyPr/>
                    <a:lstStyle/>
                    <a:p>
                      <a:pPr algn="just">
                        <a:lnSpc>
                          <a:spcPct val="150000"/>
                        </a:lnSpc>
                      </a:pPr>
                      <a:r>
                        <a:rPr lang="en-US" sz="1200" dirty="0">
                          <a:latin typeface="Calibri" panose="020F0502020204030204" pitchFamily="34" charset="0"/>
                          <a:cs typeface="Calibri" panose="020F0502020204030204" pitchFamily="34" charset="0"/>
                        </a:rPr>
                        <a:t>Research paper Name</a:t>
                      </a:r>
                      <a:endParaRPr lang="en-IN" sz="12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US" sz="1200" dirty="0">
                          <a:latin typeface="Calibri" panose="020F0502020204030204" pitchFamily="34" charset="0"/>
                          <a:cs typeface="Calibri" panose="020F0502020204030204" pitchFamily="34" charset="0"/>
                        </a:rPr>
                        <a:t>Author Name</a:t>
                      </a:r>
                      <a:endParaRPr lang="en-IN" sz="12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US" sz="1200" dirty="0">
                          <a:latin typeface="Calibri" panose="020F0502020204030204" pitchFamily="34" charset="0"/>
                          <a:cs typeface="Calibri" panose="020F0502020204030204" pitchFamily="34" charset="0"/>
                        </a:rPr>
                        <a:t>Journal Name</a:t>
                      </a:r>
                      <a:endParaRPr lang="en-IN" sz="12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US" sz="1200" dirty="0">
                          <a:latin typeface="Calibri" panose="020F0502020204030204" pitchFamily="34" charset="0"/>
                          <a:cs typeface="Calibri" panose="020F0502020204030204" pitchFamily="34" charset="0"/>
                        </a:rPr>
                        <a:t>Published Date</a:t>
                      </a:r>
                      <a:endParaRPr lang="en-IN"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015342414"/>
                  </a:ext>
                </a:extLst>
              </a:tr>
              <a:tr h="788505">
                <a:tc>
                  <a:txBody>
                    <a:bodyPr/>
                    <a:lstStyle/>
                    <a:p>
                      <a:pPr algn="just">
                        <a:lnSpc>
                          <a:spcPct val="150000"/>
                        </a:lnSpc>
                      </a:pPr>
                      <a:r>
                        <a:rPr lang="en-US" sz="1200" dirty="0">
                          <a:latin typeface="Calibri" panose="020F0502020204030204" pitchFamily="34" charset="0"/>
                          <a:cs typeface="Calibri" panose="020F0502020204030204" pitchFamily="34" charset="0"/>
                        </a:rPr>
                        <a:t>A Novel Technique for Non-Invasive Measurement of Human Blood Component Levels From Fingertip Video Using DNN Based Models</a:t>
                      </a:r>
                      <a:endParaRPr lang="en-IN" sz="12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IN" sz="1200" b="0" dirty="0">
                          <a:latin typeface="Calibri" panose="020F0502020204030204" pitchFamily="34" charset="0"/>
                          <a:cs typeface="Calibri" panose="020F0502020204030204" pitchFamily="34" charset="0"/>
                        </a:rPr>
                        <a:t>Md. </a:t>
                      </a:r>
                      <a:r>
                        <a:rPr lang="en-IN" sz="1200" b="0" dirty="0" err="1">
                          <a:latin typeface="Calibri" panose="020F0502020204030204" pitchFamily="34" charset="0"/>
                          <a:cs typeface="Calibri" panose="020F0502020204030204" pitchFamily="34" charset="0"/>
                        </a:rPr>
                        <a:t>Rezwanul</a:t>
                      </a:r>
                      <a:r>
                        <a:rPr lang="en-IN" sz="1200" b="0" dirty="0">
                          <a:latin typeface="Calibri" panose="020F0502020204030204" pitchFamily="34" charset="0"/>
                          <a:cs typeface="Calibri" panose="020F0502020204030204" pitchFamily="34" charset="0"/>
                        </a:rPr>
                        <a:t> Haque, S. M. </a:t>
                      </a:r>
                      <a:r>
                        <a:rPr lang="en-IN" sz="1200" b="0" dirty="0" err="1">
                          <a:latin typeface="Calibri" panose="020F0502020204030204" pitchFamily="34" charset="0"/>
                          <a:cs typeface="Calibri" panose="020F0502020204030204" pitchFamily="34" charset="0"/>
                        </a:rPr>
                        <a:t>Taslim</a:t>
                      </a:r>
                      <a:r>
                        <a:rPr lang="en-IN" sz="1200" b="0" dirty="0">
                          <a:latin typeface="Calibri" panose="020F0502020204030204" pitchFamily="34" charset="0"/>
                          <a:cs typeface="Calibri" panose="020F0502020204030204" pitchFamily="34" charset="0"/>
                        </a:rPr>
                        <a:t> Uddin Raju, Md. Asaf-</a:t>
                      </a:r>
                      <a:r>
                        <a:rPr lang="en-IN" sz="1200" b="0" dirty="0" err="1">
                          <a:latin typeface="Calibri" panose="020F0502020204030204" pitchFamily="34" charset="0"/>
                          <a:cs typeface="Calibri" panose="020F0502020204030204" pitchFamily="34" charset="0"/>
                        </a:rPr>
                        <a:t>Uddowla</a:t>
                      </a:r>
                      <a:r>
                        <a:rPr lang="en-IN" sz="1200" b="0" dirty="0">
                          <a:latin typeface="Calibri" panose="020F0502020204030204" pitchFamily="34" charset="0"/>
                          <a:cs typeface="Calibri" panose="020F0502020204030204" pitchFamily="34" charset="0"/>
                        </a:rPr>
                        <a:t> </a:t>
                      </a:r>
                      <a:r>
                        <a:rPr lang="en-IN" sz="1200" b="0" dirty="0" err="1">
                          <a:latin typeface="Calibri" panose="020F0502020204030204" pitchFamily="34" charset="0"/>
                          <a:cs typeface="Calibri" panose="020F0502020204030204" pitchFamily="34" charset="0"/>
                        </a:rPr>
                        <a:t>Golap</a:t>
                      </a:r>
                      <a:r>
                        <a:rPr lang="en-IN" sz="1200" b="0" dirty="0">
                          <a:latin typeface="Calibri" panose="020F0502020204030204" pitchFamily="34" charset="0"/>
                          <a:cs typeface="Calibri" panose="020F0502020204030204" pitchFamily="34" charset="0"/>
                        </a:rPr>
                        <a:t>, And M. M. A. Hashem</a:t>
                      </a:r>
                    </a:p>
                    <a:p>
                      <a:pPr algn="just">
                        <a:lnSpc>
                          <a:spcPct val="150000"/>
                        </a:lnSpc>
                      </a:pPr>
                      <a:endParaRPr lang="en-IN" sz="12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US" sz="1200" dirty="0">
                          <a:latin typeface="Calibri" panose="020F0502020204030204" pitchFamily="34" charset="0"/>
                          <a:cs typeface="Calibri" panose="020F0502020204030204" pitchFamily="34" charset="0"/>
                        </a:rPr>
                        <a:t>IEEE</a:t>
                      </a:r>
                      <a:endParaRPr lang="en-IN" sz="12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IN" sz="1200" dirty="0">
                          <a:latin typeface="Calibri" panose="020F0502020204030204" pitchFamily="34" charset="0"/>
                          <a:cs typeface="Calibri" panose="020F0502020204030204" pitchFamily="34" charset="0"/>
                        </a:rPr>
                        <a:t>February  2021</a:t>
                      </a:r>
                    </a:p>
                  </a:txBody>
                  <a:tcPr/>
                </a:tc>
                <a:extLst>
                  <a:ext uri="{0D108BD9-81ED-4DB2-BD59-A6C34878D82A}">
                    <a16:rowId xmlns:a16="http://schemas.microsoft.com/office/drawing/2014/main" val="2349026719"/>
                  </a:ext>
                </a:extLst>
              </a:tr>
              <a:tr h="1000742">
                <a:tc>
                  <a:txBody>
                    <a:bodyPr/>
                    <a:lstStyle/>
                    <a:p>
                      <a:pPr algn="just">
                        <a:lnSpc>
                          <a:spcPct val="150000"/>
                        </a:lnSpc>
                      </a:pPr>
                      <a:r>
                        <a:rPr lang="en-US" sz="1200" dirty="0">
                          <a:latin typeface="Calibri" panose="020F0502020204030204" pitchFamily="34" charset="0"/>
                          <a:cs typeface="Calibri" panose="020F0502020204030204" pitchFamily="34" charset="0"/>
                        </a:rPr>
                        <a:t>A Novel Approach to Predict Blood Group using Fingerprint Map Reading</a:t>
                      </a:r>
                      <a:endParaRPr lang="en-IN" sz="12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IN" sz="1200" dirty="0">
                          <a:latin typeface="Calibri" panose="020F0502020204030204" pitchFamily="34" charset="0"/>
                          <a:cs typeface="Calibri" panose="020F0502020204030204" pitchFamily="34" charset="0"/>
                        </a:rPr>
                        <a:t>Vijaykumar Patil N,D.R Ingle</a:t>
                      </a:r>
                    </a:p>
                  </a:txBody>
                  <a:tcPr/>
                </a:tc>
                <a:tc>
                  <a:txBody>
                    <a:bodyPr/>
                    <a:lstStyle/>
                    <a:p>
                      <a:pPr algn="just">
                        <a:lnSpc>
                          <a:spcPct val="150000"/>
                        </a:lnSpc>
                      </a:pPr>
                      <a:r>
                        <a:rPr lang="en-IN" sz="1200" dirty="0">
                          <a:latin typeface="Calibri" panose="020F0502020204030204" pitchFamily="34" charset="0"/>
                          <a:cs typeface="Calibri" panose="020F0502020204030204" pitchFamily="34" charset="0"/>
                        </a:rPr>
                        <a:t>IEEE</a:t>
                      </a:r>
                    </a:p>
                  </a:txBody>
                  <a:tcPr/>
                </a:tc>
                <a:tc>
                  <a:txBody>
                    <a:bodyPr/>
                    <a:lstStyle/>
                    <a:p>
                      <a:pPr algn="just">
                        <a:lnSpc>
                          <a:spcPct val="150000"/>
                        </a:lnSpc>
                      </a:pPr>
                      <a:r>
                        <a:rPr lang="en-IN" sz="1200" dirty="0">
                          <a:latin typeface="Calibri" panose="020F0502020204030204" pitchFamily="34" charset="0"/>
                          <a:cs typeface="Calibri" panose="020F0502020204030204" pitchFamily="34" charset="0"/>
                        </a:rPr>
                        <a:t>April 2021</a:t>
                      </a:r>
                    </a:p>
                  </a:txBody>
                  <a:tcPr/>
                </a:tc>
                <a:extLst>
                  <a:ext uri="{0D108BD9-81ED-4DB2-BD59-A6C34878D82A}">
                    <a16:rowId xmlns:a16="http://schemas.microsoft.com/office/drawing/2014/main" val="2668912446"/>
                  </a:ext>
                </a:extLst>
              </a:tr>
              <a:tr h="1000742">
                <a:tc>
                  <a:txBody>
                    <a:bodyPr/>
                    <a:lstStyle/>
                    <a:p>
                      <a:pPr algn="just">
                        <a:lnSpc>
                          <a:spcPct val="150000"/>
                        </a:lnSpc>
                      </a:pPr>
                      <a:r>
                        <a:rPr lang="en-US" sz="1200" dirty="0">
                          <a:latin typeface="Calibri" panose="020F0502020204030204" pitchFamily="34" charset="0"/>
                          <a:cs typeface="Calibri" panose="020F0502020204030204" pitchFamily="34" charset="0"/>
                        </a:rPr>
                        <a:t>Relationship between Pattern of Fingerprints and Blood Groups</a:t>
                      </a:r>
                      <a:endParaRPr lang="en-IN" sz="12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US" sz="1200" b="0" dirty="0">
                          <a:latin typeface="Calibri" panose="020F0502020204030204" pitchFamily="34" charset="0"/>
                          <a:cs typeface="Calibri" panose="020F0502020204030204" pitchFamily="34" charset="0"/>
                        </a:rPr>
                        <a:t>Yasmin Aamir, </a:t>
                      </a:r>
                      <a:r>
                        <a:rPr lang="en-US" sz="1200" b="0" dirty="0" err="1">
                          <a:latin typeface="Calibri" panose="020F0502020204030204" pitchFamily="34" charset="0"/>
                          <a:cs typeface="Calibri" panose="020F0502020204030204" pitchFamily="34" charset="0"/>
                        </a:rPr>
                        <a:t>Riffat</a:t>
                      </a:r>
                      <a:r>
                        <a:rPr lang="en-US" sz="1200" b="0" dirty="0">
                          <a:latin typeface="Calibri" panose="020F0502020204030204" pitchFamily="34" charset="0"/>
                          <a:cs typeface="Calibri" panose="020F0502020204030204" pitchFamily="34" charset="0"/>
                        </a:rPr>
                        <a:t> Masood, Nasim Irshad, Romana Malik, Noreen Farid, Muhammad Asif Shahab</a:t>
                      </a:r>
                      <a:endParaRPr lang="en-IN" sz="1200" b="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US" sz="1200" dirty="0">
                          <a:latin typeface="Calibri" panose="020F0502020204030204" pitchFamily="34" charset="0"/>
                          <a:cs typeface="Calibri" panose="020F0502020204030204" pitchFamily="34" charset="0"/>
                        </a:rPr>
                        <a:t>Research Gate</a:t>
                      </a:r>
                      <a:endParaRPr lang="en-IN" sz="12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US" sz="1200" dirty="0">
                          <a:latin typeface="Calibri" panose="020F0502020204030204" pitchFamily="34" charset="0"/>
                          <a:cs typeface="Calibri" panose="020F0502020204030204" pitchFamily="34" charset="0"/>
                        </a:rPr>
                        <a:t>September 2022</a:t>
                      </a:r>
                      <a:endParaRPr lang="en-IN"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802503123"/>
                  </a:ext>
                </a:extLst>
              </a:tr>
              <a:tr h="1000742">
                <a:tc>
                  <a:txBody>
                    <a:bodyPr/>
                    <a:lstStyle/>
                    <a:p>
                      <a:pPr algn="just">
                        <a:lnSpc>
                          <a:spcPct val="150000"/>
                        </a:lnSpc>
                      </a:pPr>
                      <a:r>
                        <a:rPr lang="en-US" sz="1200" dirty="0">
                          <a:latin typeface="Calibri" panose="020F0502020204030204" pitchFamily="34" charset="0"/>
                          <a:cs typeface="Calibri" panose="020F0502020204030204" pitchFamily="34" charset="0"/>
                        </a:rPr>
                        <a:t>Blood group detection through finger print images using image processing (KNN)</a:t>
                      </a:r>
                      <a:endParaRPr lang="en-IN" sz="12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fi-FI" sz="1200" dirty="0">
                          <a:latin typeface="Calibri" panose="020F0502020204030204" pitchFamily="34" charset="0"/>
                          <a:cs typeface="Calibri" panose="020F0502020204030204" pitchFamily="34" charset="0"/>
                        </a:rPr>
                        <a:t>G. Mounika, M. Anusha, D. Gopika, B. Siva kumari</a:t>
                      </a:r>
                      <a:endParaRPr lang="en-IN" sz="12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US" sz="1200" dirty="0">
                          <a:latin typeface="Calibri" panose="020F0502020204030204" pitchFamily="34" charset="0"/>
                          <a:cs typeface="Calibri" panose="020F0502020204030204" pitchFamily="34" charset="0"/>
                        </a:rPr>
                        <a:t>IRJET</a:t>
                      </a:r>
                      <a:endParaRPr lang="en-IN" sz="12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US" sz="1200" dirty="0">
                          <a:latin typeface="Calibri" panose="020F0502020204030204" pitchFamily="34" charset="0"/>
                          <a:cs typeface="Calibri" panose="020F0502020204030204" pitchFamily="34" charset="0"/>
                        </a:rPr>
                        <a:t>March 2023</a:t>
                      </a:r>
                      <a:endParaRPr lang="en-IN"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30520613"/>
                  </a:ext>
                </a:extLst>
              </a:tr>
            </a:tbl>
          </a:graphicData>
        </a:graphic>
      </p:graphicFrame>
      <p:pic>
        <p:nvPicPr>
          <p:cNvPr id="3" name="Graphic 2" descr="Target Audience">
            <a:extLst>
              <a:ext uri="{FF2B5EF4-FFF2-40B4-BE49-F238E27FC236}">
                <a16:creationId xmlns:a16="http://schemas.microsoft.com/office/drawing/2014/main" id="{6FB98A96-8E71-BC7E-3BA3-FEA550A8D98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39868" y="424320"/>
            <a:ext cx="1480681" cy="1303896"/>
          </a:xfrm>
          <a:prstGeom prst="rect">
            <a:avLst/>
          </a:prstGeom>
        </p:spPr>
      </p:pic>
    </p:spTree>
    <p:extLst>
      <p:ext uri="{BB962C8B-B14F-4D97-AF65-F5344CB8AC3E}">
        <p14:creationId xmlns:p14="http://schemas.microsoft.com/office/powerpoint/2010/main" val="1174493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FDAC3-A4E4-12C0-745D-9AE8AB3A040C}"/>
              </a:ext>
            </a:extLst>
          </p:cNvPr>
          <p:cNvSpPr>
            <a:spLocks noGrp="1"/>
          </p:cNvSpPr>
          <p:nvPr>
            <p:ph type="title"/>
          </p:nvPr>
        </p:nvSpPr>
        <p:spPr/>
        <p:txBody>
          <a:bodyPr/>
          <a:lstStyle/>
          <a:p>
            <a:r>
              <a:rPr lang="en-US" dirty="0"/>
              <a:t>Literature Survey:</a:t>
            </a:r>
          </a:p>
        </p:txBody>
      </p:sp>
      <p:graphicFrame>
        <p:nvGraphicFramePr>
          <p:cNvPr id="6" name="Table 6">
            <a:extLst>
              <a:ext uri="{FF2B5EF4-FFF2-40B4-BE49-F238E27FC236}">
                <a16:creationId xmlns:a16="http://schemas.microsoft.com/office/drawing/2014/main" id="{B7310F85-CE28-F0FC-9943-B64A5D6F3838}"/>
              </a:ext>
            </a:extLst>
          </p:cNvPr>
          <p:cNvGraphicFramePr>
            <a:graphicFrameLocks noGrp="1"/>
          </p:cNvGraphicFramePr>
          <p:nvPr>
            <p:ph idx="1"/>
            <p:extLst>
              <p:ext uri="{D42A27DB-BD31-4B8C-83A1-F6EECF244321}">
                <p14:modId xmlns:p14="http://schemas.microsoft.com/office/powerpoint/2010/main" val="708609556"/>
              </p:ext>
            </p:extLst>
          </p:nvPr>
        </p:nvGraphicFramePr>
        <p:xfrm>
          <a:off x="430696" y="2122715"/>
          <a:ext cx="10959547" cy="4229687"/>
        </p:xfrm>
        <a:graphic>
          <a:graphicData uri="http://schemas.openxmlformats.org/drawingml/2006/table">
            <a:tbl>
              <a:tblPr firstRow="1" bandRow="1">
                <a:tableStyleId>{5C22544A-7EE6-4342-B048-85BDC9FD1C3A}</a:tableStyleId>
              </a:tblPr>
              <a:tblGrid>
                <a:gridCol w="3750552">
                  <a:extLst>
                    <a:ext uri="{9D8B030D-6E8A-4147-A177-3AD203B41FA5}">
                      <a16:colId xmlns:a16="http://schemas.microsoft.com/office/drawing/2014/main" val="3804915083"/>
                    </a:ext>
                  </a:extLst>
                </a:gridCol>
                <a:gridCol w="3486752">
                  <a:extLst>
                    <a:ext uri="{9D8B030D-6E8A-4147-A177-3AD203B41FA5}">
                      <a16:colId xmlns:a16="http://schemas.microsoft.com/office/drawing/2014/main" val="2103481148"/>
                    </a:ext>
                  </a:extLst>
                </a:gridCol>
                <a:gridCol w="1887181">
                  <a:extLst>
                    <a:ext uri="{9D8B030D-6E8A-4147-A177-3AD203B41FA5}">
                      <a16:colId xmlns:a16="http://schemas.microsoft.com/office/drawing/2014/main" val="4291839998"/>
                    </a:ext>
                  </a:extLst>
                </a:gridCol>
                <a:gridCol w="1835062">
                  <a:extLst>
                    <a:ext uri="{9D8B030D-6E8A-4147-A177-3AD203B41FA5}">
                      <a16:colId xmlns:a16="http://schemas.microsoft.com/office/drawing/2014/main" val="163381649"/>
                    </a:ext>
                  </a:extLst>
                </a:gridCol>
              </a:tblGrid>
              <a:tr h="722692">
                <a:tc>
                  <a:txBody>
                    <a:bodyPr/>
                    <a:lstStyle/>
                    <a:p>
                      <a:pPr algn="just">
                        <a:lnSpc>
                          <a:spcPct val="150000"/>
                        </a:lnSpc>
                      </a:pPr>
                      <a:r>
                        <a:rPr lang="en-US" sz="1400" dirty="0">
                          <a:latin typeface="Calibri" panose="020F0502020204030204" pitchFamily="34" charset="0"/>
                          <a:cs typeface="Calibri" panose="020F0502020204030204" pitchFamily="34" charset="0"/>
                        </a:rPr>
                        <a:t>Research paper Name</a:t>
                      </a:r>
                      <a:endParaRPr lang="en-IN" sz="14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US" sz="1400" dirty="0">
                          <a:latin typeface="Calibri" panose="020F0502020204030204" pitchFamily="34" charset="0"/>
                          <a:cs typeface="Calibri" panose="020F0502020204030204" pitchFamily="34" charset="0"/>
                        </a:rPr>
                        <a:t>Author Name</a:t>
                      </a:r>
                      <a:endParaRPr lang="en-IN" sz="14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US" sz="1400" dirty="0">
                          <a:latin typeface="Calibri" panose="020F0502020204030204" pitchFamily="34" charset="0"/>
                          <a:cs typeface="Calibri" panose="020F0502020204030204" pitchFamily="34" charset="0"/>
                        </a:rPr>
                        <a:t>Journal Name</a:t>
                      </a:r>
                      <a:endParaRPr lang="en-IN" sz="14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US" sz="1400" dirty="0">
                          <a:latin typeface="Calibri" panose="020F0502020204030204" pitchFamily="34" charset="0"/>
                          <a:cs typeface="Calibri" panose="020F0502020204030204" pitchFamily="34" charset="0"/>
                        </a:rPr>
                        <a:t>Published Date</a:t>
                      </a:r>
                      <a:endParaRPr lang="en-IN"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015342414"/>
                  </a:ext>
                </a:extLst>
              </a:tr>
              <a:tr h="722692">
                <a:tc>
                  <a:txBody>
                    <a:bodyPr/>
                    <a:lstStyle/>
                    <a:p>
                      <a:pPr algn="just">
                        <a:lnSpc>
                          <a:spcPct val="150000"/>
                        </a:lnSpc>
                      </a:pPr>
                      <a:r>
                        <a:rPr lang="en-US" sz="1400" dirty="0">
                          <a:latin typeface="Calibri" panose="020F0502020204030204" pitchFamily="34" charset="0"/>
                          <a:cs typeface="Calibri" panose="020F0502020204030204" pitchFamily="34" charset="0"/>
                        </a:rPr>
                        <a:t>Relationship between pattern of fingerprints and blood groups</a:t>
                      </a:r>
                      <a:endParaRPr lang="en-IN" sz="14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IN" sz="1400" dirty="0">
                          <a:latin typeface="Calibri" panose="020F0502020204030204" pitchFamily="34" charset="0"/>
                          <a:cs typeface="Calibri" panose="020F0502020204030204" pitchFamily="34" charset="0"/>
                        </a:rPr>
                        <a:t>Harem Othman </a:t>
                      </a:r>
                      <a:r>
                        <a:rPr lang="en-IN" sz="1400" dirty="0" err="1">
                          <a:latin typeface="Calibri" panose="020F0502020204030204" pitchFamily="34" charset="0"/>
                          <a:cs typeface="Calibri" panose="020F0502020204030204" pitchFamily="34" charset="0"/>
                        </a:rPr>
                        <a:t>Smail</a:t>
                      </a:r>
                      <a:r>
                        <a:rPr lang="en-IN" sz="1400" dirty="0">
                          <a:latin typeface="Calibri" panose="020F0502020204030204" pitchFamily="34" charset="0"/>
                          <a:cs typeface="Calibri" panose="020F0502020204030204" pitchFamily="34" charset="0"/>
                        </a:rPr>
                        <a:t>, </a:t>
                      </a:r>
                      <a:r>
                        <a:rPr lang="en-IN" sz="1400" dirty="0" err="1">
                          <a:latin typeface="Calibri" panose="020F0502020204030204" pitchFamily="34" charset="0"/>
                          <a:cs typeface="Calibri" panose="020F0502020204030204" pitchFamily="34" charset="0"/>
                        </a:rPr>
                        <a:t>Dlnya</a:t>
                      </a:r>
                      <a:r>
                        <a:rPr lang="en-IN" sz="1400" dirty="0">
                          <a:latin typeface="Calibri" panose="020F0502020204030204" pitchFamily="34" charset="0"/>
                          <a:cs typeface="Calibri" panose="020F0502020204030204" pitchFamily="34" charset="0"/>
                        </a:rPr>
                        <a:t> Ahmed Wahab and </a:t>
                      </a:r>
                      <a:r>
                        <a:rPr lang="en-IN" sz="1400" dirty="0" err="1">
                          <a:latin typeface="Calibri" panose="020F0502020204030204" pitchFamily="34" charset="0"/>
                          <a:cs typeface="Calibri" panose="020F0502020204030204" pitchFamily="34" charset="0"/>
                        </a:rPr>
                        <a:t>Zhino</a:t>
                      </a:r>
                      <a:r>
                        <a:rPr lang="en-IN" sz="1400" dirty="0">
                          <a:latin typeface="Calibri" panose="020F0502020204030204" pitchFamily="34" charset="0"/>
                          <a:cs typeface="Calibri" panose="020F0502020204030204" pitchFamily="34" charset="0"/>
                        </a:rPr>
                        <a:t> Yahia Abdullah</a:t>
                      </a:r>
                    </a:p>
                  </a:txBody>
                  <a:tcPr/>
                </a:tc>
                <a:tc>
                  <a:txBody>
                    <a:bodyPr/>
                    <a:lstStyle/>
                    <a:p>
                      <a:pPr algn="just">
                        <a:lnSpc>
                          <a:spcPct val="150000"/>
                        </a:lnSpc>
                      </a:pPr>
                      <a:r>
                        <a:rPr lang="en-US" sz="1400" dirty="0">
                          <a:latin typeface="Calibri" panose="020F0502020204030204" pitchFamily="34" charset="0"/>
                          <a:cs typeface="Calibri" panose="020F0502020204030204" pitchFamily="34" charset="0"/>
                        </a:rPr>
                        <a:t>Academia</a:t>
                      </a:r>
                      <a:endParaRPr lang="en-IN" sz="14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US" sz="1400" dirty="0">
                          <a:latin typeface="Calibri" panose="020F0502020204030204" pitchFamily="34" charset="0"/>
                          <a:cs typeface="Calibri" panose="020F0502020204030204" pitchFamily="34" charset="0"/>
                        </a:rPr>
                        <a:t>July 2019</a:t>
                      </a:r>
                      <a:endParaRPr lang="en-IN"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049450707"/>
                  </a:ext>
                </a:extLst>
              </a:tr>
              <a:tr h="882913">
                <a:tc>
                  <a:txBody>
                    <a:bodyPr/>
                    <a:lstStyle/>
                    <a:p>
                      <a:pPr algn="just">
                        <a:lnSpc>
                          <a:spcPct val="150000"/>
                        </a:lnSpc>
                      </a:pPr>
                      <a:r>
                        <a:rPr lang="en-US" sz="1400" dirty="0">
                          <a:latin typeface="Calibri" panose="020F0502020204030204" pitchFamily="34" charset="0"/>
                          <a:cs typeface="Calibri" panose="020F0502020204030204" pitchFamily="34" charset="0"/>
                        </a:rPr>
                        <a:t>Fingerprint Based Blood Group Prediction Using Deep Learning</a:t>
                      </a:r>
                      <a:endParaRPr lang="en-IN" sz="14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IN" sz="1400" dirty="0">
                          <a:latin typeface="Calibri" panose="020F0502020204030204" pitchFamily="34" charset="0"/>
                          <a:cs typeface="Calibri" panose="020F0502020204030204" pitchFamily="34" charset="0"/>
                        </a:rPr>
                        <a:t>Swathi P , Sushmita K, Prof. Kavita V </a:t>
                      </a:r>
                      <a:r>
                        <a:rPr lang="en-IN" sz="1400" dirty="0" err="1">
                          <a:latin typeface="Calibri" panose="020F0502020204030204" pitchFamily="34" charset="0"/>
                          <a:cs typeface="Calibri" panose="020F0502020204030204" pitchFamily="34" charset="0"/>
                        </a:rPr>
                        <a:t>Horadi</a:t>
                      </a:r>
                      <a:endParaRPr lang="en-IN" sz="14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IN" sz="1400" dirty="0">
                          <a:latin typeface="Calibri" panose="020F0502020204030204" pitchFamily="34" charset="0"/>
                          <a:cs typeface="Calibri" panose="020F0502020204030204" pitchFamily="34" charset="0"/>
                        </a:rPr>
                        <a:t>IJARSCT</a:t>
                      </a:r>
                    </a:p>
                  </a:txBody>
                  <a:tcPr/>
                </a:tc>
                <a:tc>
                  <a:txBody>
                    <a:bodyPr/>
                    <a:lstStyle/>
                    <a:p>
                      <a:pPr algn="just">
                        <a:lnSpc>
                          <a:spcPct val="150000"/>
                        </a:lnSpc>
                      </a:pPr>
                      <a:r>
                        <a:rPr lang="en-IN" sz="1400" dirty="0">
                          <a:latin typeface="Calibri" panose="020F0502020204030204" pitchFamily="34" charset="0"/>
                          <a:cs typeface="Calibri" panose="020F0502020204030204" pitchFamily="34" charset="0"/>
                        </a:rPr>
                        <a:t>February 2024</a:t>
                      </a:r>
                    </a:p>
                  </a:txBody>
                  <a:tcPr/>
                </a:tc>
                <a:extLst>
                  <a:ext uri="{0D108BD9-81ED-4DB2-BD59-A6C34878D82A}">
                    <a16:rowId xmlns:a16="http://schemas.microsoft.com/office/drawing/2014/main" val="2668912446"/>
                  </a:ext>
                </a:extLst>
              </a:tr>
              <a:tr h="882913">
                <a:tc>
                  <a:txBody>
                    <a:bodyPr/>
                    <a:lstStyle/>
                    <a:p>
                      <a:pPr algn="just">
                        <a:lnSpc>
                          <a:spcPct val="150000"/>
                        </a:lnSpc>
                      </a:pPr>
                      <a:r>
                        <a:rPr lang="en-US" sz="1400" dirty="0">
                          <a:latin typeface="Calibri" panose="020F0502020204030204" pitchFamily="34" charset="0"/>
                          <a:cs typeface="Calibri" panose="020F0502020204030204" pitchFamily="34" charset="0"/>
                        </a:rPr>
                        <a:t>Fingerprint patterns in relation to gender and blood groups - A study in Navi Mumbai</a:t>
                      </a:r>
                      <a:endParaRPr lang="en-IN" sz="14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IN" sz="1400" dirty="0">
                          <a:latin typeface="Calibri" panose="020F0502020204030204" pitchFamily="34" charset="0"/>
                          <a:cs typeface="Calibri" panose="020F0502020204030204" pitchFamily="34" charset="0"/>
                        </a:rPr>
                        <a:t>Amit Patil, Amrit Malik , </a:t>
                      </a:r>
                      <a:r>
                        <a:rPr lang="en-IN" sz="1400" dirty="0" err="1">
                          <a:latin typeface="Calibri" panose="020F0502020204030204" pitchFamily="34" charset="0"/>
                          <a:cs typeface="Calibri" panose="020F0502020204030204" pitchFamily="34" charset="0"/>
                        </a:rPr>
                        <a:t>Treza</a:t>
                      </a:r>
                      <a:r>
                        <a:rPr lang="en-IN" sz="1400" dirty="0">
                          <a:latin typeface="Calibri" panose="020F0502020204030204" pitchFamily="34" charset="0"/>
                          <a:cs typeface="Calibri" panose="020F0502020204030204" pitchFamily="34" charset="0"/>
                        </a:rPr>
                        <a:t> </a:t>
                      </a:r>
                      <a:r>
                        <a:rPr lang="en-IN" sz="1400" dirty="0" err="1">
                          <a:latin typeface="Calibri" panose="020F0502020204030204" pitchFamily="34" charset="0"/>
                          <a:cs typeface="Calibri" panose="020F0502020204030204" pitchFamily="34" charset="0"/>
                        </a:rPr>
                        <a:t>Shirole</a:t>
                      </a:r>
                      <a:endParaRPr lang="en-IN" sz="14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US" sz="1400" dirty="0">
                          <a:latin typeface="Calibri" panose="020F0502020204030204" pitchFamily="34" charset="0"/>
                          <a:cs typeface="Calibri" panose="020F0502020204030204" pitchFamily="34" charset="0"/>
                        </a:rPr>
                        <a:t>Academia</a:t>
                      </a:r>
                      <a:endParaRPr lang="en-IN" sz="14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IN" sz="1400" dirty="0">
                          <a:latin typeface="Calibri" panose="020F0502020204030204" pitchFamily="34" charset="0"/>
                          <a:cs typeface="Calibri" panose="020F0502020204030204" pitchFamily="34" charset="0"/>
                        </a:rPr>
                        <a:t>September 2017</a:t>
                      </a:r>
                    </a:p>
                  </a:txBody>
                  <a:tcPr/>
                </a:tc>
                <a:extLst>
                  <a:ext uri="{0D108BD9-81ED-4DB2-BD59-A6C34878D82A}">
                    <a16:rowId xmlns:a16="http://schemas.microsoft.com/office/drawing/2014/main" val="466706555"/>
                  </a:ext>
                </a:extLst>
              </a:tr>
              <a:tr h="929174">
                <a:tc>
                  <a:txBody>
                    <a:bodyPr/>
                    <a:lstStyle/>
                    <a:p>
                      <a:pPr algn="just">
                        <a:lnSpc>
                          <a:spcPct val="150000"/>
                        </a:lnSpc>
                      </a:pPr>
                      <a:r>
                        <a:rPr lang="en-US" sz="1400" dirty="0">
                          <a:latin typeface="Calibri" panose="020F0502020204030204" pitchFamily="34" charset="0"/>
                          <a:cs typeface="Calibri" panose="020F0502020204030204" pitchFamily="34" charset="0"/>
                        </a:rPr>
                        <a:t>Relation between fingerprints and different blood groups</a:t>
                      </a:r>
                      <a:endParaRPr lang="en-IN" sz="14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IN" sz="1400" dirty="0">
                          <a:latin typeface="Calibri" panose="020F0502020204030204" pitchFamily="34" charset="0"/>
                          <a:cs typeface="Calibri" panose="020F0502020204030204" pitchFamily="34" charset="0"/>
                        </a:rPr>
                        <a:t>Noor </a:t>
                      </a:r>
                      <a:r>
                        <a:rPr lang="en-IN" sz="1400" dirty="0" err="1">
                          <a:latin typeface="Calibri" panose="020F0502020204030204" pitchFamily="34" charset="0"/>
                          <a:cs typeface="Calibri" panose="020F0502020204030204" pitchFamily="34" charset="0"/>
                        </a:rPr>
                        <a:t>Eldin</a:t>
                      </a:r>
                      <a:r>
                        <a:rPr lang="en-IN" sz="1400" dirty="0">
                          <a:latin typeface="Calibri" panose="020F0502020204030204" pitchFamily="34" charset="0"/>
                          <a:cs typeface="Calibri" panose="020F0502020204030204" pitchFamily="34" charset="0"/>
                        </a:rPr>
                        <a:t> </a:t>
                      </a:r>
                      <a:r>
                        <a:rPr lang="en-IN" sz="1400" dirty="0" err="1">
                          <a:latin typeface="Calibri" panose="020F0502020204030204" pitchFamily="34" charset="0"/>
                          <a:cs typeface="Calibri" panose="020F0502020204030204" pitchFamily="34" charset="0"/>
                        </a:rPr>
                        <a:t>Fayrouz</a:t>
                      </a:r>
                      <a:r>
                        <a:rPr lang="en-IN" sz="1400" dirty="0">
                          <a:latin typeface="Calibri" panose="020F0502020204030204" pitchFamily="34" charset="0"/>
                          <a:cs typeface="Calibri" panose="020F0502020204030204" pitchFamily="34" charset="0"/>
                        </a:rPr>
                        <a:t> MD, Asst. Professor a , Noor Farida MD, HOD b , A.H. Irshad PhD, Asst. Professor c</a:t>
                      </a:r>
                    </a:p>
                  </a:txBody>
                  <a:tcPr/>
                </a:tc>
                <a:tc>
                  <a:txBody>
                    <a:bodyPr/>
                    <a:lstStyle/>
                    <a:p>
                      <a:pPr algn="just">
                        <a:lnSpc>
                          <a:spcPct val="150000"/>
                        </a:lnSpc>
                      </a:pPr>
                      <a:r>
                        <a:rPr lang="en-US" sz="1400" dirty="0" err="1">
                          <a:latin typeface="Calibri" panose="020F0502020204030204" pitchFamily="34" charset="0"/>
                          <a:cs typeface="Calibri" panose="020F0502020204030204" pitchFamily="34" charset="0"/>
                        </a:rPr>
                        <a:t>ElSEVIER</a:t>
                      </a:r>
                      <a:endParaRPr lang="en-IN" sz="1400" dirty="0">
                        <a:latin typeface="Calibri" panose="020F0502020204030204" pitchFamily="34" charset="0"/>
                        <a:cs typeface="Calibri" panose="020F0502020204030204" pitchFamily="34" charset="0"/>
                      </a:endParaRPr>
                    </a:p>
                  </a:txBody>
                  <a:tcPr/>
                </a:tc>
                <a:tc>
                  <a:txBody>
                    <a:bodyPr/>
                    <a:lstStyle/>
                    <a:p>
                      <a:pPr algn="just">
                        <a:lnSpc>
                          <a:spcPct val="150000"/>
                        </a:lnSpc>
                      </a:pPr>
                      <a:r>
                        <a:rPr lang="en-IN" sz="1400" dirty="0">
                          <a:latin typeface="Calibri" panose="020F0502020204030204" pitchFamily="34" charset="0"/>
                          <a:cs typeface="Calibri" panose="020F0502020204030204" pitchFamily="34" charset="0"/>
                        </a:rPr>
                        <a:t>October 2011</a:t>
                      </a:r>
                    </a:p>
                  </a:txBody>
                  <a:tcPr/>
                </a:tc>
                <a:extLst>
                  <a:ext uri="{0D108BD9-81ED-4DB2-BD59-A6C34878D82A}">
                    <a16:rowId xmlns:a16="http://schemas.microsoft.com/office/drawing/2014/main" val="2230520613"/>
                  </a:ext>
                </a:extLst>
              </a:tr>
            </a:tbl>
          </a:graphicData>
        </a:graphic>
      </p:graphicFrame>
      <p:pic>
        <p:nvPicPr>
          <p:cNvPr id="7" name="Graphic 6" descr="Target Audience">
            <a:extLst>
              <a:ext uri="{FF2B5EF4-FFF2-40B4-BE49-F238E27FC236}">
                <a16:creationId xmlns:a16="http://schemas.microsoft.com/office/drawing/2014/main" id="{4313C853-9B30-4851-9751-B68406598C2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39868" y="424320"/>
            <a:ext cx="1480681" cy="1303896"/>
          </a:xfrm>
          <a:prstGeom prst="rect">
            <a:avLst/>
          </a:prstGeom>
        </p:spPr>
      </p:pic>
    </p:spTree>
    <p:extLst>
      <p:ext uri="{BB962C8B-B14F-4D97-AF65-F5344CB8AC3E}">
        <p14:creationId xmlns:p14="http://schemas.microsoft.com/office/powerpoint/2010/main" val="3834237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23F8FA-6D58-6705-4CC7-9824577150C5}"/>
              </a:ext>
            </a:extLst>
          </p:cNvPr>
          <p:cNvSpPr>
            <a:spLocks noGrp="1"/>
          </p:cNvSpPr>
          <p:nvPr>
            <p:ph type="title"/>
          </p:nvPr>
        </p:nvSpPr>
        <p:spPr>
          <a:xfrm>
            <a:off x="411478" y="1108640"/>
            <a:ext cx="4485861" cy="786469"/>
          </a:xfrm>
        </p:spPr>
        <p:txBody>
          <a:bodyPr anchor="b">
            <a:normAutofit/>
          </a:bodyPr>
          <a:lstStyle/>
          <a:p>
            <a:r>
              <a:rPr lang="en-US" sz="3400" dirty="0"/>
              <a:t>Objective:</a:t>
            </a:r>
          </a:p>
        </p:txBody>
      </p:sp>
      <p:sp>
        <p:nvSpPr>
          <p:cNvPr id="21" name="Rectangle 20">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8D92A00-849D-5F1B-AA00-A49F2733F726}"/>
              </a:ext>
            </a:extLst>
          </p:cNvPr>
          <p:cNvSpPr>
            <a:spLocks noGrp="1"/>
          </p:cNvSpPr>
          <p:nvPr>
            <p:ph idx="1"/>
          </p:nvPr>
        </p:nvSpPr>
        <p:spPr>
          <a:xfrm>
            <a:off x="411478" y="2633472"/>
            <a:ext cx="6883844" cy="3639312"/>
          </a:xfrm>
        </p:spPr>
        <p:txBody>
          <a:bodyPr lIns="109728" tIns="109728" rIns="109728" bIns="91440" anchor="t">
            <a:noAutofit/>
          </a:bodyPr>
          <a:lstStyle/>
          <a:p>
            <a:pPr algn="just">
              <a:lnSpc>
                <a:spcPct val="160000"/>
              </a:lnSpc>
            </a:pPr>
            <a:r>
              <a:rPr lang="en-US" sz="1050" dirty="0"/>
              <a:t>Fingerprints, a fundamental feature, uniquely identify individuals due to the intricate patterns of ridges and valleys formed during the fetal stage, which remain unchanged throughout life. The primary patterns—loops, whorls , and arches along with minutiae points like bifurcations and ridge endings, make fingerprints invaluable for identification and security. Beyond traditional use, recent research suggests these patterns may carry biological information, including blood group indicators. Blood groups (A, B, AB, O) are vital for medical purposes like transfusions and transplants, typically identified through invasive serological methods .Our project explores the potential of non-invasive blood group detection using deep learning.</a:t>
            </a:r>
            <a:endParaRPr lang="en-US" sz="1200" b="1" dirty="0">
              <a:latin typeface="Times New Roman"/>
              <a:ea typeface="Calibri"/>
              <a:cs typeface="Times New Roman"/>
            </a:endParaRPr>
          </a:p>
        </p:txBody>
      </p:sp>
      <p:pic>
        <p:nvPicPr>
          <p:cNvPr id="4" name="Picture 3" descr="A group of blood groups&#10;&#10;Description automatically generated">
            <a:extLst>
              <a:ext uri="{FF2B5EF4-FFF2-40B4-BE49-F238E27FC236}">
                <a16:creationId xmlns:a16="http://schemas.microsoft.com/office/drawing/2014/main" id="{8481385C-6D70-2C7C-43C7-CFEEA0CF4C55}"/>
              </a:ext>
            </a:extLst>
          </p:cNvPr>
          <p:cNvPicPr>
            <a:picLocks noChangeAspect="1"/>
          </p:cNvPicPr>
          <p:nvPr/>
        </p:nvPicPr>
        <p:blipFill>
          <a:blip r:embed="rId2"/>
          <a:srcRect l="8010" r="8426" b="2"/>
          <a:stretch/>
        </p:blipFill>
        <p:spPr>
          <a:xfrm>
            <a:off x="7633252" y="10"/>
            <a:ext cx="4558748" cy="3428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pic>
        <p:nvPicPr>
          <p:cNvPr id="8" name="Picture 7">
            <a:extLst>
              <a:ext uri="{FF2B5EF4-FFF2-40B4-BE49-F238E27FC236}">
                <a16:creationId xmlns:a16="http://schemas.microsoft.com/office/drawing/2014/main" id="{5ABD8FB4-B8BB-4214-8B47-9B5DA48531E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12157" y="3313043"/>
            <a:ext cx="4472608" cy="3591340"/>
          </a:xfrm>
          <a:prstGeom prst="rect">
            <a:avLst/>
          </a:prstGeom>
          <a:ln>
            <a:noFill/>
          </a:ln>
          <a:effectLst>
            <a:softEdge rad="112500"/>
          </a:effectLst>
        </p:spPr>
      </p:pic>
    </p:spTree>
    <p:extLst>
      <p:ext uri="{BB962C8B-B14F-4D97-AF65-F5344CB8AC3E}">
        <p14:creationId xmlns:p14="http://schemas.microsoft.com/office/powerpoint/2010/main" val="1201008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07B55-A50E-28EF-826D-A75E8EAB276C}"/>
              </a:ext>
            </a:extLst>
          </p:cNvPr>
          <p:cNvSpPr>
            <a:spLocks noGrp="1"/>
          </p:cNvSpPr>
          <p:nvPr>
            <p:ph type="title"/>
          </p:nvPr>
        </p:nvSpPr>
        <p:spPr/>
        <p:txBody>
          <a:bodyPr/>
          <a:lstStyle/>
          <a:p>
            <a:r>
              <a:rPr lang="en-US" dirty="0"/>
              <a:t>Objective:</a:t>
            </a:r>
            <a:endParaRPr lang="en-IN" dirty="0"/>
          </a:p>
        </p:txBody>
      </p:sp>
      <p:graphicFrame>
        <p:nvGraphicFramePr>
          <p:cNvPr id="5" name="Content Placeholder 2">
            <a:extLst>
              <a:ext uri="{FF2B5EF4-FFF2-40B4-BE49-F238E27FC236}">
                <a16:creationId xmlns:a16="http://schemas.microsoft.com/office/drawing/2014/main" id="{D5135010-24F6-7327-B054-2E22CF96CB84}"/>
              </a:ext>
            </a:extLst>
          </p:cNvPr>
          <p:cNvGraphicFramePr>
            <a:graphicFrameLocks noGrp="1"/>
          </p:cNvGraphicFramePr>
          <p:nvPr>
            <p:ph idx="1"/>
            <p:extLst>
              <p:ext uri="{D42A27DB-BD31-4B8C-83A1-F6EECF244321}">
                <p14:modId xmlns:p14="http://schemas.microsoft.com/office/powerpoint/2010/main" val="3497707540"/>
              </p:ext>
            </p:extLst>
          </p:nvPr>
        </p:nvGraphicFramePr>
        <p:xfrm>
          <a:off x="88709" y="1777836"/>
          <a:ext cx="13756945" cy="3998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33FBAFE0-7F72-4862-93D4-9780E5A0BFEC}"/>
              </a:ext>
            </a:extLst>
          </p:cNvPr>
          <p:cNvSpPr txBox="1"/>
          <p:nvPr/>
        </p:nvSpPr>
        <p:spPr>
          <a:xfrm>
            <a:off x="1333481" y="3977385"/>
            <a:ext cx="1799438" cy="2215991"/>
          </a:xfrm>
          <a:prstGeom prst="rect">
            <a:avLst/>
          </a:prstGeom>
          <a:solidFill>
            <a:schemeClr val="accent1">
              <a:lumMod val="40000"/>
              <a:lumOff val="60000"/>
            </a:schemeClr>
          </a:solidFill>
          <a:ln w="12700">
            <a:noFill/>
          </a:ln>
        </p:spPr>
        <p:txBody>
          <a:bodyPr wrap="square" rtlCol="0">
            <a:spAutoFit/>
          </a:bodyPr>
          <a:lstStyle/>
          <a:p>
            <a:pPr algn="ctr">
              <a:lnSpc>
                <a:spcPct val="150000"/>
              </a:lnSpc>
            </a:pPr>
            <a:r>
              <a:rPr lang="en-US" sz="1200" dirty="0">
                <a:latin typeface="Calibri" panose="020F0502020204030204" pitchFamily="34" charset="0"/>
                <a:cs typeface="Calibri" panose="020F0502020204030204" pitchFamily="34" charset="0"/>
              </a:rPr>
              <a:t>Assess the feasibility of using fingerprint images for blood group detection</a:t>
            </a:r>
          </a:p>
          <a:p>
            <a:pPr algn="ctr">
              <a:lnSpc>
                <a:spcPct val="150000"/>
              </a:lnSpc>
            </a:pPr>
            <a:r>
              <a:rPr lang="en-US" sz="1200" dirty="0">
                <a:latin typeface="Calibri" panose="020F0502020204030204" pitchFamily="34" charset="0"/>
                <a:cs typeface="Calibri" panose="020F0502020204030204" pitchFamily="34" charset="0"/>
              </a:rPr>
              <a:t> by analyzing potential correlations between fingerprint patterns and blood groups.</a:t>
            </a:r>
          </a:p>
          <a:p>
            <a:endParaRPr lang="en-IN"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5F6AF82C-CDDB-4AF7-BACE-7D4F6A4A0242}"/>
              </a:ext>
            </a:extLst>
          </p:cNvPr>
          <p:cNvSpPr txBox="1"/>
          <p:nvPr/>
        </p:nvSpPr>
        <p:spPr>
          <a:xfrm>
            <a:off x="3096274" y="3962800"/>
            <a:ext cx="1848762" cy="2279727"/>
          </a:xfrm>
          <a:prstGeom prst="rect">
            <a:avLst/>
          </a:prstGeom>
          <a:solidFill>
            <a:schemeClr val="accent1">
              <a:lumMod val="20000"/>
              <a:lumOff val="80000"/>
            </a:schemeClr>
          </a:solidFill>
          <a:ln w="12700">
            <a:noFill/>
          </a:ln>
        </p:spPr>
        <p:txBody>
          <a:bodyPr wrap="square" rtlCol="0">
            <a:spAutoFit/>
          </a:bodyPr>
          <a:lstStyle/>
          <a:p>
            <a:pPr algn="ctr">
              <a:lnSpc>
                <a:spcPct val="150000"/>
              </a:lnSpc>
            </a:pPr>
            <a:r>
              <a:rPr lang="en-US" sz="1200" dirty="0">
                <a:latin typeface="Calibri" panose="020F0502020204030204" pitchFamily="34" charset="0"/>
                <a:cs typeface="Calibri" panose="020F0502020204030204" pitchFamily="34" charset="0"/>
              </a:rPr>
              <a:t>Design and implement a deep learning model, specifically a convolutional neural network (CNN), capable of accurately classifying blood groups based on fingerprint images.</a:t>
            </a:r>
          </a:p>
        </p:txBody>
      </p:sp>
      <p:sp>
        <p:nvSpPr>
          <p:cNvPr id="7" name="TextBox 6">
            <a:extLst>
              <a:ext uri="{FF2B5EF4-FFF2-40B4-BE49-F238E27FC236}">
                <a16:creationId xmlns:a16="http://schemas.microsoft.com/office/drawing/2014/main" id="{C778D192-FB94-44AE-9EA0-2CC65FE5F61A}"/>
              </a:ext>
            </a:extLst>
          </p:cNvPr>
          <p:cNvSpPr txBox="1"/>
          <p:nvPr/>
        </p:nvSpPr>
        <p:spPr>
          <a:xfrm>
            <a:off x="4895712" y="3962800"/>
            <a:ext cx="1800396" cy="2279727"/>
          </a:xfrm>
          <a:prstGeom prst="rect">
            <a:avLst/>
          </a:prstGeom>
          <a:solidFill>
            <a:schemeClr val="accent1">
              <a:lumMod val="40000"/>
              <a:lumOff val="60000"/>
            </a:schemeClr>
          </a:solidFill>
          <a:ln w="12700">
            <a:noFill/>
          </a:ln>
        </p:spPr>
        <p:txBody>
          <a:bodyPr wrap="square" rtlCol="0">
            <a:spAutoFit/>
          </a:bodyPr>
          <a:lstStyle/>
          <a:p>
            <a:pPr algn="ctr">
              <a:lnSpc>
                <a:spcPct val="150000"/>
              </a:lnSpc>
            </a:pPr>
            <a:r>
              <a:rPr lang="en-US" sz="1200" dirty="0">
                <a:latin typeface="Calibri" panose="020F0502020204030204" pitchFamily="34" charset="0"/>
                <a:cs typeface="Calibri" panose="020F0502020204030204" pitchFamily="34" charset="0"/>
              </a:rPr>
              <a:t>Collect and preprocess a diverse dataset of fingerprint images labeled with corresponding blood groups, ensuring data quality and representativeness.</a:t>
            </a:r>
          </a:p>
          <a:p>
            <a:pPr algn="ctr">
              <a:lnSpc>
                <a:spcPct val="150000"/>
              </a:lnSpc>
            </a:pPr>
            <a:endParaRPr lang="en-IN" sz="12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285BF3DB-9E4C-4B01-9957-081D1306ACC7}"/>
              </a:ext>
            </a:extLst>
          </p:cNvPr>
          <p:cNvSpPr txBox="1"/>
          <p:nvPr/>
        </p:nvSpPr>
        <p:spPr>
          <a:xfrm>
            <a:off x="6703261" y="3977385"/>
            <a:ext cx="1707208" cy="2279727"/>
          </a:xfrm>
          <a:prstGeom prst="rect">
            <a:avLst/>
          </a:prstGeom>
          <a:solidFill>
            <a:schemeClr val="accent1">
              <a:lumMod val="20000"/>
              <a:lumOff val="80000"/>
            </a:schemeClr>
          </a:solidFill>
          <a:ln w="12700">
            <a:noFill/>
          </a:ln>
        </p:spPr>
        <p:txBody>
          <a:bodyPr wrap="square" rtlCol="0">
            <a:spAutoFit/>
          </a:bodyPr>
          <a:lstStyle/>
          <a:p>
            <a:pPr algn="ctr">
              <a:lnSpc>
                <a:spcPct val="150000"/>
              </a:lnSpc>
            </a:pPr>
            <a:r>
              <a:rPr lang="en-US" sz="1200" dirty="0">
                <a:latin typeface="Calibri" panose="020F0502020204030204" pitchFamily="34" charset="0"/>
                <a:cs typeface="Calibri" panose="020F0502020204030204" pitchFamily="34" charset="0"/>
              </a:rPr>
              <a:t>Train the deep learning model on the curated dataset and optimize its performance through techniques such as hyperparameter tuning, data augmentation, and model validation.</a:t>
            </a:r>
          </a:p>
        </p:txBody>
      </p:sp>
      <p:sp>
        <p:nvSpPr>
          <p:cNvPr id="9" name="TextBox 8">
            <a:extLst>
              <a:ext uri="{FF2B5EF4-FFF2-40B4-BE49-F238E27FC236}">
                <a16:creationId xmlns:a16="http://schemas.microsoft.com/office/drawing/2014/main" id="{DF9E513F-EFA3-473D-A639-90731A22DAE0}"/>
              </a:ext>
            </a:extLst>
          </p:cNvPr>
          <p:cNvSpPr txBox="1"/>
          <p:nvPr/>
        </p:nvSpPr>
        <p:spPr>
          <a:xfrm>
            <a:off x="8419427" y="3967618"/>
            <a:ext cx="1707211" cy="2246769"/>
          </a:xfrm>
          <a:prstGeom prst="rect">
            <a:avLst/>
          </a:prstGeom>
          <a:solidFill>
            <a:schemeClr val="accent1">
              <a:lumMod val="40000"/>
              <a:lumOff val="60000"/>
            </a:schemeClr>
          </a:solidFill>
          <a:ln w="12700">
            <a:noFill/>
          </a:ln>
        </p:spPr>
        <p:txBody>
          <a:bodyPr wrap="square" rtlCol="0">
            <a:spAutoFit/>
          </a:bodyPr>
          <a:lstStyle/>
          <a:p>
            <a:pPr algn="ctr">
              <a:lnSpc>
                <a:spcPct val="150000"/>
              </a:lnSpc>
            </a:pPr>
            <a:r>
              <a:rPr lang="en-US" sz="1200" dirty="0">
                <a:latin typeface="Calibri" panose="020F0502020204030204" pitchFamily="34" charset="0"/>
                <a:cs typeface="Calibri" panose="020F0502020204030204" pitchFamily="34" charset="0"/>
              </a:rPr>
              <a:t>Conduct rigorous testing of the model to evaluate its accuracy, precision, and generalization capabilities in predicting blood groups from fingerprint images.</a:t>
            </a:r>
          </a:p>
          <a:p>
            <a:endParaRPr lang="en-IN" sz="1400" dirty="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EBD0C6A0-7FA1-4AB7-B4A4-A7EBCC9A90D1}"/>
              </a:ext>
            </a:extLst>
          </p:cNvPr>
          <p:cNvSpPr txBox="1"/>
          <p:nvPr/>
        </p:nvSpPr>
        <p:spPr>
          <a:xfrm>
            <a:off x="10133788" y="3955976"/>
            <a:ext cx="1929616" cy="2279727"/>
          </a:xfrm>
          <a:prstGeom prst="rect">
            <a:avLst/>
          </a:prstGeom>
          <a:solidFill>
            <a:schemeClr val="accent1">
              <a:lumMod val="20000"/>
              <a:lumOff val="80000"/>
            </a:schemeClr>
          </a:solidFill>
          <a:ln w="12700">
            <a:noFill/>
          </a:ln>
        </p:spPr>
        <p:txBody>
          <a:bodyPr wrap="square" rtlCol="0">
            <a:spAutoFit/>
          </a:bodyPr>
          <a:lstStyle/>
          <a:p>
            <a:pPr algn="ctr">
              <a:lnSpc>
                <a:spcPct val="150000"/>
              </a:lnSpc>
            </a:pPr>
            <a:r>
              <a:rPr lang="en-US" sz="1200" dirty="0">
                <a:latin typeface="Calibri" panose="020F0502020204030204" pitchFamily="34" charset="0"/>
                <a:cs typeface="Calibri" panose="020F0502020204030204" pitchFamily="34" charset="0"/>
              </a:rPr>
              <a:t>Investigate the potential applications of this technology in healthcare, particularly as a non-invasive, rapid, and cost-effective alternative to traditional blood group testing methods.</a:t>
            </a:r>
            <a:endParaRPr lang="en-IN"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1692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1A9F3-1EFB-870A-C808-8984A6BFAAD5}"/>
              </a:ext>
            </a:extLst>
          </p:cNvPr>
          <p:cNvSpPr>
            <a:spLocks noGrp="1"/>
          </p:cNvSpPr>
          <p:nvPr>
            <p:ph type="title"/>
          </p:nvPr>
        </p:nvSpPr>
        <p:spPr/>
        <p:txBody>
          <a:bodyPr>
            <a:normAutofit/>
          </a:bodyPr>
          <a:lstStyle/>
          <a:p>
            <a:r>
              <a:rPr lang="en-US" dirty="0"/>
              <a:t>Dataset Collection</a:t>
            </a:r>
          </a:p>
        </p:txBody>
      </p:sp>
      <p:sp>
        <p:nvSpPr>
          <p:cNvPr id="3" name="Content Placeholder 2">
            <a:extLst>
              <a:ext uri="{FF2B5EF4-FFF2-40B4-BE49-F238E27FC236}">
                <a16:creationId xmlns:a16="http://schemas.microsoft.com/office/drawing/2014/main" id="{9A5CDC57-6616-AA50-ABA4-F0B9AB32FCBA}"/>
              </a:ext>
            </a:extLst>
          </p:cNvPr>
          <p:cNvSpPr>
            <a:spLocks noGrp="1"/>
          </p:cNvSpPr>
          <p:nvPr>
            <p:ph sz="half" idx="1"/>
          </p:nvPr>
        </p:nvSpPr>
        <p:spPr/>
        <p:txBody>
          <a:bodyPr lIns="109728" tIns="109728" rIns="109728" bIns="91440" anchor="ctr">
            <a:noAutofit/>
          </a:bodyPr>
          <a:lstStyle/>
          <a:p>
            <a:pPr marL="0" indent="0" algn="just">
              <a:lnSpc>
                <a:spcPct val="150000"/>
              </a:lnSpc>
              <a:buNone/>
            </a:pPr>
            <a:r>
              <a:rPr lang="en-US" sz="1200" dirty="0">
                <a:effectLst/>
                <a:latin typeface="Times New Roman" panose="02020603050405020304" pitchFamily="18" charset="0"/>
                <a:ea typeface="SimSun" panose="02010600030101010101" pitchFamily="2" charset="-122"/>
              </a:rPr>
              <a:t>A dataset of 6,000 fingerprint images was collected from friends, students, peers in the college, and other sources like </a:t>
            </a:r>
            <a:r>
              <a:rPr lang="en-US" sz="1200" dirty="0" err="1">
                <a:effectLst/>
                <a:latin typeface="Times New Roman" panose="02020603050405020304" pitchFamily="18" charset="0"/>
                <a:ea typeface="SimSun" panose="02010600030101010101" pitchFamily="2" charset="-122"/>
              </a:rPr>
              <a:t>kaggle</a:t>
            </a:r>
            <a:r>
              <a:rPr lang="en-US" sz="1200" dirty="0">
                <a:effectLst/>
                <a:latin typeface="Times New Roman" panose="02020603050405020304" pitchFamily="18" charset="0"/>
                <a:ea typeface="SimSun" panose="02010600030101010101" pitchFamily="2" charset="-122"/>
              </a:rPr>
              <a:t> with each image labeled by blood group. The dataset was evenly distributed across the four primary blood groups A, B, AB, and O categorized into positive and negative types, as illustrated in Figure. To ensure diversity in fingerprint patterns, the images were sourced from a varied population, with each fingerprint accurately labeled with its corresponding blood group.</a:t>
            </a:r>
            <a:endParaRPr lang="en-IN" sz="1200" dirty="0">
              <a:effectLst/>
              <a:latin typeface="Times New Roman" panose="02020603050405020304" pitchFamily="18" charset="0"/>
              <a:ea typeface="SimSun" panose="02010600030101010101" pitchFamily="2" charset="-122"/>
            </a:endParaRPr>
          </a:p>
          <a:p>
            <a:pPr marL="0" indent="0">
              <a:lnSpc>
                <a:spcPct val="100000"/>
              </a:lnSpc>
              <a:buNone/>
            </a:pPr>
            <a:endParaRPr lang="en-US" sz="900" dirty="0">
              <a:latin typeface="Calibri"/>
              <a:ea typeface="Calibri"/>
              <a:cs typeface="Calibri"/>
            </a:endParaRPr>
          </a:p>
        </p:txBody>
      </p:sp>
      <p:pic>
        <p:nvPicPr>
          <p:cNvPr id="11" name="Content Placeholder 10">
            <a:extLst>
              <a:ext uri="{FF2B5EF4-FFF2-40B4-BE49-F238E27FC236}">
                <a16:creationId xmlns:a16="http://schemas.microsoft.com/office/drawing/2014/main" id="{40342146-A9B9-4EAC-8EA0-FC9FE58F74C6}"/>
              </a:ext>
            </a:extLst>
          </p:cNvPr>
          <p:cNvPicPr>
            <a:picLocks noGrp="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6308035" y="2478024"/>
            <a:ext cx="4975661" cy="3174028"/>
          </a:xfrm>
          <a:prstGeom prst="rect">
            <a:avLst/>
          </a:prstGeom>
          <a:noFill/>
          <a:ln>
            <a:noFill/>
          </a:ln>
        </p:spPr>
      </p:pic>
    </p:spTree>
    <p:extLst>
      <p:ext uri="{BB962C8B-B14F-4D97-AF65-F5344CB8AC3E}">
        <p14:creationId xmlns:p14="http://schemas.microsoft.com/office/powerpoint/2010/main" val="830271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343623-474D-44C3-8F89-E08108080FBE}"/>
              </a:ext>
            </a:extLst>
          </p:cNvPr>
          <p:cNvSpPr>
            <a:spLocks noGrp="1"/>
          </p:cNvSpPr>
          <p:nvPr>
            <p:ph type="title"/>
          </p:nvPr>
        </p:nvSpPr>
        <p:spPr>
          <a:xfrm>
            <a:off x="1115568" y="548640"/>
            <a:ext cx="10168128" cy="1179576"/>
          </a:xfrm>
        </p:spPr>
        <p:txBody>
          <a:bodyPr>
            <a:normAutofit/>
          </a:bodyPr>
          <a:lstStyle/>
          <a:p>
            <a:r>
              <a:rPr lang="en-US">
                <a:cs typeface="Calibri" panose="020F0502020204030204" pitchFamily="34" charset="0"/>
              </a:rPr>
              <a:t>Proposed Methodology:</a:t>
            </a:r>
            <a:endParaRPr lang="en-IN">
              <a:cs typeface="Calibri" panose="020F0502020204030204" pitchFamily="34" charset="0"/>
            </a:endParaRPr>
          </a:p>
        </p:txBody>
      </p:sp>
      <p:sp>
        <p:nvSpPr>
          <p:cNvPr id="17" name="Rectangle 16">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1294073-8832-4884-B92E-797A1B507FD6}"/>
              </a:ext>
            </a:extLst>
          </p:cNvPr>
          <p:cNvSpPr>
            <a:spLocks noGrp="1"/>
          </p:cNvSpPr>
          <p:nvPr>
            <p:ph idx="1"/>
          </p:nvPr>
        </p:nvSpPr>
        <p:spPr>
          <a:xfrm>
            <a:off x="498835" y="2276856"/>
            <a:ext cx="11282348" cy="3895344"/>
          </a:xfrm>
        </p:spPr>
        <p:txBody>
          <a:bodyPr anchor="ctr">
            <a:noAutofit/>
          </a:bodyPr>
          <a:lstStyle/>
          <a:p>
            <a:pPr marL="0" indent="0" algn="just">
              <a:lnSpc>
                <a:spcPct val="150000"/>
              </a:lnSpc>
              <a:buNone/>
            </a:pPr>
            <a:r>
              <a:rPr lang="en-US" sz="1200" dirty="0">
                <a:latin typeface="Calibri"/>
                <a:ea typeface="Calibri"/>
                <a:cs typeface="Calibri"/>
              </a:rPr>
              <a:t>The proposed methodology for blood group detection using fingerprint images leverages advanced deep learning techniques. We begin by curating a large, diverse dataset of fingerprint images, carefully categorized by blood group. The dataset is preprocessed to enhance image quality and consistency through normalization and augmentation. Several Convolutional Neural Networks (CNNs) are then trained on this dataset to identify patterns within the fingerprints that correlate with specific blood groups. Rigorous validation methods are applied during training to optimize model performance and prevent overfitting. The model with the highest accuracy, precision, and recall is selected for deployment. After training the model, the system can predict a person's blood group from an uploaded fingerprint image, offering a quick, non-invasive alternative to traditional blood typing methods. This approach has the potential to significantly impact diagnostic practices, particularly in resource-limited settings.</a:t>
            </a:r>
            <a:endParaRPr lang="en-IN" sz="1200" dirty="0">
              <a:latin typeface="Calibri"/>
              <a:ea typeface="Calibri"/>
              <a:cs typeface="Calibri"/>
            </a:endParaRPr>
          </a:p>
        </p:txBody>
      </p:sp>
    </p:spTree>
    <p:extLst>
      <p:ext uri="{BB962C8B-B14F-4D97-AF65-F5344CB8AC3E}">
        <p14:creationId xmlns:p14="http://schemas.microsoft.com/office/powerpoint/2010/main" val="3023536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24B54-C1A8-44E9-A2D8-32D88FFE40DA}"/>
              </a:ext>
            </a:extLst>
          </p:cNvPr>
          <p:cNvSpPr>
            <a:spLocks noGrp="1"/>
          </p:cNvSpPr>
          <p:nvPr>
            <p:ph type="title"/>
          </p:nvPr>
        </p:nvSpPr>
        <p:spPr/>
        <p:txBody>
          <a:bodyPr>
            <a:normAutofit/>
          </a:bodyPr>
          <a:lstStyle/>
          <a:p>
            <a:r>
              <a:rPr lang="en-US" sz="3600" dirty="0">
                <a:cs typeface="Calibri" panose="020F0502020204030204" pitchFamily="34" charset="0"/>
              </a:rPr>
              <a:t>Proposed Methodology</a:t>
            </a:r>
            <a:br>
              <a:rPr lang="en-US" dirty="0"/>
            </a:br>
            <a:r>
              <a:rPr lang="en-US" sz="2700" dirty="0"/>
              <a:t>(Flow chart):</a:t>
            </a:r>
            <a:endParaRPr lang="en-IN" sz="2700" dirty="0"/>
          </a:p>
        </p:txBody>
      </p:sp>
      <p:sp>
        <p:nvSpPr>
          <p:cNvPr id="3" name="Content Placeholder 2">
            <a:extLst>
              <a:ext uri="{FF2B5EF4-FFF2-40B4-BE49-F238E27FC236}">
                <a16:creationId xmlns:a16="http://schemas.microsoft.com/office/drawing/2014/main" id="{30FAB204-A8DC-4A89-8ED1-1C8733C015C3}"/>
              </a:ext>
            </a:extLst>
          </p:cNvPr>
          <p:cNvSpPr>
            <a:spLocks noGrp="1"/>
          </p:cNvSpPr>
          <p:nvPr>
            <p:ph idx="1"/>
          </p:nvPr>
        </p:nvSpPr>
        <p:spPr>
          <a:xfrm>
            <a:off x="3944363" y="3720188"/>
            <a:ext cx="7339333" cy="2452012"/>
          </a:xfrm>
        </p:spPr>
        <p:txBody>
          <a:bodyPr lIns="109728" tIns="109728" rIns="109728" bIns="91440" anchor="t"/>
          <a:lstStyle/>
          <a:p>
            <a:pPr algn="just">
              <a:buNone/>
            </a:pPr>
            <a:r>
              <a:rPr lang="en-IN" sz="1200" dirty="0">
                <a:ea typeface="+mn-lt"/>
                <a:cs typeface="+mn-lt"/>
              </a:rPr>
              <a:t>               </a:t>
            </a:r>
            <a:endParaRPr lang="en-IN" dirty="0">
              <a:ea typeface="+mn-lt"/>
              <a:cs typeface="+mn-lt"/>
            </a:endParaRPr>
          </a:p>
          <a:p>
            <a:pPr>
              <a:buNone/>
            </a:pPr>
            <a:r>
              <a:rPr lang="en-IN" sz="1200" dirty="0">
                <a:ea typeface="+mn-lt"/>
                <a:cs typeface="+mn-lt"/>
              </a:rPr>
              <a:t>                                                                          </a:t>
            </a:r>
            <a:endParaRPr lang="en-IN" dirty="0"/>
          </a:p>
          <a:p>
            <a:pPr>
              <a:buNone/>
            </a:pPr>
            <a:r>
              <a:rPr lang="en-IN" sz="1200" dirty="0">
                <a:ea typeface="+mn-lt"/>
                <a:cs typeface="+mn-lt"/>
              </a:rPr>
              <a:t>                                                                         </a:t>
            </a:r>
            <a:endParaRPr lang="en-IN" dirty="0"/>
          </a:p>
          <a:p>
            <a:pPr>
              <a:buNone/>
            </a:pPr>
            <a:r>
              <a:rPr lang="en-IN" sz="1200" dirty="0">
                <a:ea typeface="+mn-lt"/>
                <a:cs typeface="+mn-lt"/>
              </a:rPr>
              <a:t>              </a:t>
            </a:r>
            <a:endParaRPr lang="en-IN" dirty="0"/>
          </a:p>
          <a:p>
            <a:pPr>
              <a:buNone/>
            </a:pPr>
            <a:r>
              <a:rPr lang="en-IN" sz="1200" dirty="0">
                <a:ea typeface="+mn-lt"/>
                <a:cs typeface="+mn-lt"/>
              </a:rPr>
              <a:t>                    </a:t>
            </a:r>
            <a:endParaRPr lang="en-IN" dirty="0"/>
          </a:p>
          <a:p>
            <a:pPr>
              <a:buNone/>
            </a:pPr>
            <a:r>
              <a:rPr lang="en-IN" sz="1200" dirty="0">
                <a:ea typeface="+mn-lt"/>
                <a:cs typeface="+mn-lt"/>
              </a:rPr>
              <a:t>                                                                    </a:t>
            </a:r>
            <a:endParaRPr lang="en-IN" dirty="0">
              <a:ea typeface="+mn-lt"/>
              <a:cs typeface="+mn-lt"/>
            </a:endParaRPr>
          </a:p>
          <a:p>
            <a:pPr>
              <a:buNone/>
            </a:pPr>
            <a:r>
              <a:rPr lang="en-IN" sz="1200" dirty="0">
                <a:ea typeface="+mn-lt"/>
                <a:cs typeface="+mn-lt"/>
              </a:rPr>
              <a:t>                                                                         </a:t>
            </a:r>
            <a:endParaRPr lang="en-IN" dirty="0"/>
          </a:p>
          <a:p>
            <a:pPr>
              <a:buNone/>
            </a:pPr>
            <a:r>
              <a:rPr lang="en-IN" sz="1200" dirty="0">
                <a:ea typeface="+mn-lt"/>
                <a:cs typeface="+mn-lt"/>
              </a:rPr>
              <a:t>                                                                              </a:t>
            </a:r>
            <a:endParaRPr lang="en-IN" dirty="0"/>
          </a:p>
          <a:p>
            <a:pPr algn="just">
              <a:buNone/>
            </a:pPr>
            <a:r>
              <a:rPr lang="en-IN" sz="1200" dirty="0">
                <a:ea typeface="+mn-lt"/>
                <a:cs typeface="+mn-lt"/>
              </a:rPr>
              <a:t>               </a:t>
            </a:r>
            <a:endParaRPr lang="en-IN" dirty="0"/>
          </a:p>
          <a:p>
            <a:pPr marL="0" indent="0" algn="just">
              <a:lnSpc>
                <a:spcPct val="150000"/>
              </a:lnSpc>
              <a:buNone/>
            </a:pPr>
            <a:endParaRPr lang="en-IN" sz="1200" dirty="0">
              <a:latin typeface="Calibri" panose="020F0502020204030204" pitchFamily="34" charset="0"/>
              <a:ea typeface="Calibri"/>
              <a:cs typeface="Calibri" panose="020F0502020204030204" pitchFamily="34" charset="0"/>
            </a:endParaRPr>
          </a:p>
        </p:txBody>
      </p:sp>
      <p:sp>
        <p:nvSpPr>
          <p:cNvPr id="4" name="Rectangle: Rounded Corners 3">
            <a:extLst>
              <a:ext uri="{FF2B5EF4-FFF2-40B4-BE49-F238E27FC236}">
                <a16:creationId xmlns:a16="http://schemas.microsoft.com/office/drawing/2014/main" id="{86035DA2-B081-5F8F-F2BF-3C2B35C2214B}"/>
              </a:ext>
            </a:extLst>
          </p:cNvPr>
          <p:cNvSpPr/>
          <p:nvPr/>
        </p:nvSpPr>
        <p:spPr>
          <a:xfrm>
            <a:off x="1115568" y="2506475"/>
            <a:ext cx="1795180" cy="608665"/>
          </a:xfrm>
          <a:prstGeom prst="roundRect">
            <a:avLst/>
          </a:prstGeom>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Data Collection</a:t>
            </a:r>
          </a:p>
        </p:txBody>
      </p:sp>
      <p:sp>
        <p:nvSpPr>
          <p:cNvPr id="5" name="Rectangle: Rounded Corners 4">
            <a:extLst>
              <a:ext uri="{FF2B5EF4-FFF2-40B4-BE49-F238E27FC236}">
                <a16:creationId xmlns:a16="http://schemas.microsoft.com/office/drawing/2014/main" id="{F48F61B7-676A-7D0B-6F7F-361595CA8F51}"/>
              </a:ext>
            </a:extLst>
          </p:cNvPr>
          <p:cNvSpPr/>
          <p:nvPr/>
        </p:nvSpPr>
        <p:spPr>
          <a:xfrm>
            <a:off x="3493713" y="2509012"/>
            <a:ext cx="1812994" cy="606600"/>
          </a:xfrm>
          <a:prstGeom prst="roundRect">
            <a:avLst/>
          </a:prstGeom>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aseline="0" dirty="0">
                <a:latin typeface="Neue Haas Grotesk Text Pro"/>
              </a:rPr>
              <a:t> Data Preprocessing </a:t>
            </a:r>
            <a:endParaRPr lang="en-US" dirty="0"/>
          </a:p>
        </p:txBody>
      </p:sp>
      <p:sp>
        <p:nvSpPr>
          <p:cNvPr id="6" name="Rectangle: Rounded Corners 5">
            <a:extLst>
              <a:ext uri="{FF2B5EF4-FFF2-40B4-BE49-F238E27FC236}">
                <a16:creationId xmlns:a16="http://schemas.microsoft.com/office/drawing/2014/main" id="{E9A72F99-892D-51E3-F9F3-1ED5DE7AB064}"/>
              </a:ext>
            </a:extLst>
          </p:cNvPr>
          <p:cNvSpPr/>
          <p:nvPr/>
        </p:nvSpPr>
        <p:spPr>
          <a:xfrm>
            <a:off x="5889672" y="2537168"/>
            <a:ext cx="1809181" cy="490032"/>
          </a:xfrm>
          <a:prstGeom prst="roundRect">
            <a:avLst/>
          </a:prstGeom>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bg2"/>
                </a:solidFill>
              </a:rPr>
              <a:t>Model Development</a:t>
            </a:r>
          </a:p>
        </p:txBody>
      </p:sp>
      <p:sp>
        <p:nvSpPr>
          <p:cNvPr id="7" name="Rectangle: Rounded Corners 6">
            <a:extLst>
              <a:ext uri="{FF2B5EF4-FFF2-40B4-BE49-F238E27FC236}">
                <a16:creationId xmlns:a16="http://schemas.microsoft.com/office/drawing/2014/main" id="{DFEC9648-A091-017E-8FD9-F6756C6350A1}"/>
              </a:ext>
            </a:extLst>
          </p:cNvPr>
          <p:cNvSpPr/>
          <p:nvPr/>
        </p:nvSpPr>
        <p:spPr>
          <a:xfrm>
            <a:off x="8139475" y="2506475"/>
            <a:ext cx="1833620" cy="5562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Model Evalution</a:t>
            </a:r>
          </a:p>
        </p:txBody>
      </p:sp>
      <p:sp>
        <p:nvSpPr>
          <p:cNvPr id="8" name="Rectangle: Rounded Corners 7">
            <a:extLst>
              <a:ext uri="{FF2B5EF4-FFF2-40B4-BE49-F238E27FC236}">
                <a16:creationId xmlns:a16="http://schemas.microsoft.com/office/drawing/2014/main" id="{B381146A-1E82-9D1A-2670-0EFE9BC7F2E9}"/>
              </a:ext>
            </a:extLst>
          </p:cNvPr>
          <p:cNvSpPr/>
          <p:nvPr/>
        </p:nvSpPr>
        <p:spPr>
          <a:xfrm>
            <a:off x="8222770" y="3520647"/>
            <a:ext cx="1823681" cy="5460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Model Deployment</a:t>
            </a:r>
          </a:p>
        </p:txBody>
      </p:sp>
      <p:sp>
        <p:nvSpPr>
          <p:cNvPr id="9" name="Rectangle: Rounded Corners 8">
            <a:extLst>
              <a:ext uri="{FF2B5EF4-FFF2-40B4-BE49-F238E27FC236}">
                <a16:creationId xmlns:a16="http://schemas.microsoft.com/office/drawing/2014/main" id="{BADE3FFB-954A-F033-FB04-DEDDAC219529}"/>
              </a:ext>
            </a:extLst>
          </p:cNvPr>
          <p:cNvSpPr/>
          <p:nvPr/>
        </p:nvSpPr>
        <p:spPr>
          <a:xfrm>
            <a:off x="8236871" y="4724172"/>
            <a:ext cx="1834868" cy="5320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Future Directions</a:t>
            </a:r>
          </a:p>
        </p:txBody>
      </p:sp>
      <p:sp>
        <p:nvSpPr>
          <p:cNvPr id="10" name="Arrow: Down 9">
            <a:extLst>
              <a:ext uri="{FF2B5EF4-FFF2-40B4-BE49-F238E27FC236}">
                <a16:creationId xmlns:a16="http://schemas.microsoft.com/office/drawing/2014/main" id="{1ECA61AA-C803-4103-8C43-BB4834E1D318}"/>
              </a:ext>
            </a:extLst>
          </p:cNvPr>
          <p:cNvSpPr/>
          <p:nvPr/>
        </p:nvSpPr>
        <p:spPr>
          <a:xfrm rot="16200000">
            <a:off x="3067880" y="2673825"/>
            <a:ext cx="185530" cy="273963"/>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 name="Arrow: Down 12">
            <a:extLst>
              <a:ext uri="{FF2B5EF4-FFF2-40B4-BE49-F238E27FC236}">
                <a16:creationId xmlns:a16="http://schemas.microsoft.com/office/drawing/2014/main" id="{086BFE40-079A-42A2-B6F8-6D946C7ABAA1}"/>
              </a:ext>
            </a:extLst>
          </p:cNvPr>
          <p:cNvSpPr/>
          <p:nvPr/>
        </p:nvSpPr>
        <p:spPr>
          <a:xfrm rot="16200000">
            <a:off x="5547010" y="2681489"/>
            <a:ext cx="185530" cy="273963"/>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4" name="Arrow: Down 13">
            <a:extLst>
              <a:ext uri="{FF2B5EF4-FFF2-40B4-BE49-F238E27FC236}">
                <a16:creationId xmlns:a16="http://schemas.microsoft.com/office/drawing/2014/main" id="{9A898956-2DEB-435C-B554-2EBC87F805F4}"/>
              </a:ext>
            </a:extLst>
          </p:cNvPr>
          <p:cNvSpPr/>
          <p:nvPr/>
        </p:nvSpPr>
        <p:spPr>
          <a:xfrm rot="16200000">
            <a:off x="7812467" y="2674788"/>
            <a:ext cx="213394" cy="214792"/>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5" name="Arrow: Down 14">
            <a:extLst>
              <a:ext uri="{FF2B5EF4-FFF2-40B4-BE49-F238E27FC236}">
                <a16:creationId xmlns:a16="http://schemas.microsoft.com/office/drawing/2014/main" id="{0B80695D-4DEE-45CB-B561-15291AB543CD}"/>
              </a:ext>
            </a:extLst>
          </p:cNvPr>
          <p:cNvSpPr/>
          <p:nvPr/>
        </p:nvSpPr>
        <p:spPr>
          <a:xfrm>
            <a:off x="8977958" y="3187049"/>
            <a:ext cx="156653" cy="186645"/>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6" name="Arrow: Down 15">
            <a:extLst>
              <a:ext uri="{FF2B5EF4-FFF2-40B4-BE49-F238E27FC236}">
                <a16:creationId xmlns:a16="http://schemas.microsoft.com/office/drawing/2014/main" id="{0ACCABCF-027F-4062-9739-461064DBABC0}"/>
              </a:ext>
            </a:extLst>
          </p:cNvPr>
          <p:cNvSpPr/>
          <p:nvPr/>
        </p:nvSpPr>
        <p:spPr>
          <a:xfrm>
            <a:off x="8977958" y="4248985"/>
            <a:ext cx="176347" cy="238840"/>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448980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9AE651-078C-8976-204C-42CCADC2220B}"/>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400" dirty="0" err="1"/>
              <a:t>Comparision</a:t>
            </a:r>
            <a:r>
              <a:rPr lang="en-US" sz="4400" dirty="0"/>
              <a:t> of Various Models</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a:extLst>
              <a:ext uri="{FF2B5EF4-FFF2-40B4-BE49-F238E27FC236}">
                <a16:creationId xmlns:a16="http://schemas.microsoft.com/office/drawing/2014/main" id="{6B4CFBB5-23B8-D235-614A-EE1E45DCAB81}"/>
              </a:ext>
            </a:extLst>
          </p:cNvPr>
          <p:cNvPicPr>
            <a:picLocks noGrp="1" noChangeAspect="1"/>
          </p:cNvPicPr>
          <p:nvPr>
            <p:ph idx="1"/>
          </p:nvPr>
        </p:nvPicPr>
        <p:blipFill>
          <a:blip r:embed="rId2"/>
          <a:stretch>
            <a:fillRect/>
          </a:stretch>
        </p:blipFill>
        <p:spPr>
          <a:xfrm>
            <a:off x="5521536" y="334330"/>
            <a:ext cx="5398035" cy="5982056"/>
          </a:xfrm>
          <a:prstGeom prst="rect">
            <a:avLst/>
          </a:prstGeom>
        </p:spPr>
      </p:pic>
    </p:spTree>
    <p:extLst>
      <p:ext uri="{BB962C8B-B14F-4D97-AF65-F5344CB8AC3E}">
        <p14:creationId xmlns:p14="http://schemas.microsoft.com/office/powerpoint/2010/main" val="2967196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Rectangle 31">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546432-1B82-5138-745C-9ED84DE31157}"/>
              </a:ext>
            </a:extLst>
          </p:cNvPr>
          <p:cNvSpPr>
            <a:spLocks noGrp="1"/>
          </p:cNvSpPr>
          <p:nvPr>
            <p:ph type="title"/>
          </p:nvPr>
        </p:nvSpPr>
        <p:spPr>
          <a:xfrm>
            <a:off x="841247" y="978619"/>
            <a:ext cx="3410712" cy="1106424"/>
          </a:xfrm>
        </p:spPr>
        <p:txBody>
          <a:bodyPr>
            <a:normAutofit fontScale="90000"/>
          </a:bodyPr>
          <a:lstStyle/>
          <a:p>
            <a:r>
              <a:rPr lang="en-US" sz="2800" dirty="0"/>
              <a:t>Performance Graph of Models</a:t>
            </a:r>
          </a:p>
        </p:txBody>
      </p:sp>
      <p:sp>
        <p:nvSpPr>
          <p:cNvPr id="34" name="Rectangle 33">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Content Placeholder 2">
            <a:extLst>
              <a:ext uri="{FF2B5EF4-FFF2-40B4-BE49-F238E27FC236}">
                <a16:creationId xmlns:a16="http://schemas.microsoft.com/office/drawing/2014/main" id="{C2C19CAB-5B1D-C7EE-ADAE-2FEEECDB5A02}"/>
              </a:ext>
            </a:extLst>
          </p:cNvPr>
          <p:cNvSpPr>
            <a:spLocks noGrp="1"/>
          </p:cNvSpPr>
          <p:nvPr>
            <p:ph idx="1"/>
          </p:nvPr>
        </p:nvSpPr>
        <p:spPr>
          <a:xfrm>
            <a:off x="345568" y="2252870"/>
            <a:ext cx="4279383" cy="4212530"/>
          </a:xfrm>
        </p:spPr>
        <p:txBody>
          <a:bodyPr lIns="109728" tIns="109728" rIns="109728" bIns="91440" anchor="t">
            <a:normAutofit/>
          </a:bodyPr>
          <a:lstStyle/>
          <a:p>
            <a:pPr algn="just">
              <a:lnSpc>
                <a:spcPct val="150000"/>
              </a:lnSpc>
            </a:pPr>
            <a:r>
              <a:rPr lang="en-US" sz="1200" b="1" dirty="0">
                <a:latin typeface="Times New Roman"/>
                <a:cs typeface="Times New Roman"/>
              </a:rPr>
              <a:t>By comparing all the models ResNet34</a:t>
            </a:r>
            <a:r>
              <a:rPr lang="en-US" sz="1200" dirty="0">
                <a:latin typeface="Times New Roman"/>
                <a:cs typeface="Times New Roman"/>
              </a:rPr>
              <a:t> emerged as the best-performing model, balancing high accuracy with low loss and strong validation performance, indicating good generalization. </a:t>
            </a:r>
            <a:r>
              <a:rPr lang="en-US" sz="1200" b="1" dirty="0">
                <a:latin typeface="Times New Roman"/>
                <a:cs typeface="Times New Roman"/>
              </a:rPr>
              <a:t>VGG16</a:t>
            </a:r>
            <a:r>
              <a:rPr lang="en-US" sz="1200" dirty="0">
                <a:latin typeface="Times New Roman"/>
                <a:cs typeface="Times New Roman"/>
              </a:rPr>
              <a:t> also performed well but showed some signs of overfitting in later epochs. </a:t>
            </a:r>
            <a:r>
              <a:rPr lang="en-US" sz="1200" b="1" dirty="0">
                <a:latin typeface="Times New Roman"/>
                <a:cs typeface="Times New Roman"/>
              </a:rPr>
              <a:t>LeNet5,</a:t>
            </a:r>
            <a:r>
              <a:rPr lang="en-US" sz="1200" dirty="0">
                <a:latin typeface="Times New Roman"/>
                <a:cs typeface="Times New Roman"/>
              </a:rPr>
              <a:t> while achieving perfect accuracy, struggled with overfitting, as indicated by its high validation loss. </a:t>
            </a:r>
            <a:r>
              <a:rPr lang="en-US" sz="1200" b="1" dirty="0">
                <a:latin typeface="Times New Roman"/>
                <a:cs typeface="Times New Roman"/>
              </a:rPr>
              <a:t>Alex Net</a:t>
            </a:r>
            <a:r>
              <a:rPr lang="en-US" sz="1200" dirty="0">
                <a:latin typeface="Times New Roman"/>
                <a:cs typeface="Times New Roman"/>
              </a:rPr>
              <a:t> consistently underperformed across all epochs, with low accuracy and high loss, both on training and validation data.</a:t>
            </a:r>
            <a:endParaRPr lang="en-US" sz="1200" dirty="0"/>
          </a:p>
        </p:txBody>
      </p:sp>
      <p:pic>
        <p:nvPicPr>
          <p:cNvPr id="5" name="Picture 4" descr="A graph of different colored bars&#10;&#10;Description automatically generated">
            <a:extLst>
              <a:ext uri="{FF2B5EF4-FFF2-40B4-BE49-F238E27FC236}">
                <a16:creationId xmlns:a16="http://schemas.microsoft.com/office/drawing/2014/main" id="{7819BE51-E2DE-FAAE-33AF-75E60B0525E6}"/>
              </a:ext>
            </a:extLst>
          </p:cNvPr>
          <p:cNvPicPr>
            <a:picLocks noChangeAspect="1"/>
          </p:cNvPicPr>
          <p:nvPr/>
        </p:nvPicPr>
        <p:blipFill>
          <a:blip r:embed="rId2"/>
          <a:stretch>
            <a:fillRect/>
          </a:stretch>
        </p:blipFill>
        <p:spPr>
          <a:xfrm>
            <a:off x="5120640" y="1231880"/>
            <a:ext cx="6656832" cy="4293656"/>
          </a:xfrm>
          <a:prstGeom prst="rect">
            <a:avLst/>
          </a:prstGeom>
          <a:ln>
            <a:noFill/>
          </a:ln>
          <a:effectLst>
            <a:softEdge rad="112500"/>
          </a:effectLst>
        </p:spPr>
      </p:pic>
    </p:spTree>
    <p:extLst>
      <p:ext uri="{BB962C8B-B14F-4D97-AF65-F5344CB8AC3E}">
        <p14:creationId xmlns:p14="http://schemas.microsoft.com/office/powerpoint/2010/main" val="1430933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548E0-BD2D-40BA-97DA-26F3978DE0CC}"/>
              </a:ext>
            </a:extLst>
          </p:cNvPr>
          <p:cNvSpPr>
            <a:spLocks noGrp="1"/>
          </p:cNvSpPr>
          <p:nvPr>
            <p:ph type="title"/>
          </p:nvPr>
        </p:nvSpPr>
        <p:spPr/>
        <p:txBody>
          <a:bodyPr>
            <a:normAutofit/>
          </a:bodyPr>
          <a:lstStyle/>
          <a:p>
            <a:r>
              <a:rPr lang="en-US" sz="3200" dirty="0"/>
              <a:t>Result and Output:</a:t>
            </a:r>
            <a:endParaRPr lang="en-IN" sz="3200" dirty="0"/>
          </a:p>
        </p:txBody>
      </p:sp>
      <p:pic>
        <p:nvPicPr>
          <p:cNvPr id="19" name="Content Placeholder 18">
            <a:extLst>
              <a:ext uri="{FF2B5EF4-FFF2-40B4-BE49-F238E27FC236}">
                <a16:creationId xmlns:a16="http://schemas.microsoft.com/office/drawing/2014/main" id="{34A4E99C-219C-4415-9A98-04A58EDC777F}"/>
              </a:ext>
            </a:extLst>
          </p:cNvPr>
          <p:cNvPicPr>
            <a:picLocks noGrp="1" noChangeAspect="1"/>
          </p:cNvPicPr>
          <p:nvPr>
            <p:ph idx="1"/>
          </p:nvPr>
        </p:nvPicPr>
        <p:blipFill>
          <a:blip r:embed="rId2"/>
          <a:stretch>
            <a:fillRect/>
          </a:stretch>
        </p:blipFill>
        <p:spPr>
          <a:xfrm>
            <a:off x="611679" y="2182424"/>
            <a:ext cx="6226444" cy="3396742"/>
          </a:xfrm>
          <a:prstGeom prst="rect">
            <a:avLst/>
          </a:prstGeom>
          <a:ln>
            <a:noFill/>
          </a:ln>
          <a:effectLst>
            <a:softEdge rad="112500"/>
          </a:effectLst>
        </p:spPr>
      </p:pic>
      <p:pic>
        <p:nvPicPr>
          <p:cNvPr id="20" name="Picture 19">
            <a:extLst>
              <a:ext uri="{FF2B5EF4-FFF2-40B4-BE49-F238E27FC236}">
                <a16:creationId xmlns:a16="http://schemas.microsoft.com/office/drawing/2014/main" id="{3D743B23-6B6E-4293-A0D2-E860525C83A4}"/>
              </a:ext>
            </a:extLst>
          </p:cNvPr>
          <p:cNvPicPr/>
          <p:nvPr/>
        </p:nvPicPr>
        <p:blipFill>
          <a:blip r:embed="rId3"/>
          <a:stretch>
            <a:fillRect/>
          </a:stretch>
        </p:blipFill>
        <p:spPr>
          <a:xfrm>
            <a:off x="7467600" y="2190355"/>
            <a:ext cx="3969026" cy="3501453"/>
          </a:xfrm>
          <a:prstGeom prst="rect">
            <a:avLst/>
          </a:prstGeom>
          <a:ln>
            <a:noFill/>
          </a:ln>
          <a:effectLst>
            <a:softEdge rad="112500"/>
          </a:effectLst>
        </p:spPr>
      </p:pic>
      <p:sp>
        <p:nvSpPr>
          <p:cNvPr id="22" name="TextBox 21">
            <a:extLst>
              <a:ext uri="{FF2B5EF4-FFF2-40B4-BE49-F238E27FC236}">
                <a16:creationId xmlns:a16="http://schemas.microsoft.com/office/drawing/2014/main" id="{AF6DBE72-B1CF-4CEA-8882-8D86C65832DD}"/>
              </a:ext>
            </a:extLst>
          </p:cNvPr>
          <p:cNvSpPr txBox="1"/>
          <p:nvPr/>
        </p:nvSpPr>
        <p:spPr>
          <a:xfrm>
            <a:off x="1908313" y="5771764"/>
            <a:ext cx="4119041" cy="523220"/>
          </a:xfrm>
          <a:prstGeom prst="rect">
            <a:avLst/>
          </a:prstGeom>
          <a:noFill/>
        </p:spPr>
        <p:txBody>
          <a:bodyPr wrap="square">
            <a:spAutoFit/>
          </a:bodyPr>
          <a:lstStyle/>
          <a:p>
            <a:pPr algn="ctr"/>
            <a:r>
              <a:rPr lang="en-IN" sz="1400" b="1" dirty="0">
                <a:latin typeface="Times New Roman" panose="02020603050405020304" pitchFamily="18" charset="0"/>
                <a:cs typeface="Times New Roman" panose="02020603050405020304" pitchFamily="18" charset="0"/>
              </a:rPr>
              <a:t>Accuracy/loss results. Performance testing during model training of ResNet</a:t>
            </a:r>
          </a:p>
        </p:txBody>
      </p:sp>
      <p:sp>
        <p:nvSpPr>
          <p:cNvPr id="24" name="TextBox 23">
            <a:extLst>
              <a:ext uri="{FF2B5EF4-FFF2-40B4-BE49-F238E27FC236}">
                <a16:creationId xmlns:a16="http://schemas.microsoft.com/office/drawing/2014/main" id="{7FC0B7BB-FD35-40F0-AA02-04B49D6B7228}"/>
              </a:ext>
            </a:extLst>
          </p:cNvPr>
          <p:cNvSpPr txBox="1"/>
          <p:nvPr/>
        </p:nvSpPr>
        <p:spPr>
          <a:xfrm>
            <a:off x="8229597" y="5569173"/>
            <a:ext cx="2584176" cy="584775"/>
          </a:xfrm>
          <a:prstGeom prst="rect">
            <a:avLst/>
          </a:prstGeom>
          <a:noFill/>
        </p:spPr>
        <p:txBody>
          <a:bodyPr wrap="square">
            <a:spAutoFit/>
          </a:bodyPr>
          <a:lstStyle/>
          <a:p>
            <a:r>
              <a:rPr lang="en-US" sz="1400" b="1" dirty="0">
                <a:latin typeface="Times New Roman" panose="02020603050405020304" pitchFamily="18" charset="0"/>
                <a:cs typeface="Times New Roman" panose="02020603050405020304" pitchFamily="18" charset="0"/>
              </a:rPr>
              <a:t>Prediction of blood group using fingerprint image using </a:t>
            </a:r>
            <a:r>
              <a:rPr lang="en-US" sz="1400" b="1" dirty="0" err="1">
                <a:latin typeface="Times New Roman" panose="02020603050405020304" pitchFamily="18" charset="0"/>
                <a:cs typeface="Times New Roman" panose="02020603050405020304" pitchFamily="18" charset="0"/>
              </a:rPr>
              <a:t>resnet</a:t>
            </a:r>
            <a:r>
              <a:rPr lang="en-IN" dirty="0"/>
              <a:t> </a:t>
            </a:r>
          </a:p>
        </p:txBody>
      </p:sp>
    </p:spTree>
    <p:extLst>
      <p:ext uri="{BB962C8B-B14F-4D97-AF65-F5344CB8AC3E}">
        <p14:creationId xmlns:p14="http://schemas.microsoft.com/office/powerpoint/2010/main" val="1558909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60C90-C95F-5286-BDE1-7FA6ABC1930D}"/>
              </a:ext>
            </a:extLst>
          </p:cNvPr>
          <p:cNvSpPr>
            <a:spLocks noGrp="1"/>
          </p:cNvSpPr>
          <p:nvPr>
            <p:ph type="title"/>
          </p:nvPr>
        </p:nvSpPr>
        <p:spPr/>
        <p:txBody>
          <a:bodyPr>
            <a:normAutofit/>
          </a:bodyPr>
          <a:lstStyle/>
          <a:p>
            <a:r>
              <a:rPr lang="en-US" sz="3200" dirty="0"/>
              <a:t>Conclusion &amp; Future Work:</a:t>
            </a:r>
          </a:p>
        </p:txBody>
      </p:sp>
      <p:sp>
        <p:nvSpPr>
          <p:cNvPr id="3" name="Content Placeholder 2">
            <a:extLst>
              <a:ext uri="{FF2B5EF4-FFF2-40B4-BE49-F238E27FC236}">
                <a16:creationId xmlns:a16="http://schemas.microsoft.com/office/drawing/2014/main" id="{13ED018F-6115-6462-F7FC-5A60CAABDAEE}"/>
              </a:ext>
            </a:extLst>
          </p:cNvPr>
          <p:cNvSpPr>
            <a:spLocks noGrp="1"/>
          </p:cNvSpPr>
          <p:nvPr>
            <p:ph idx="1"/>
          </p:nvPr>
        </p:nvSpPr>
        <p:spPr/>
        <p:txBody>
          <a:bodyPr lIns="109728" tIns="109728" rIns="109728" bIns="91440" anchor="t"/>
          <a:lstStyle/>
          <a:p>
            <a:pPr marL="0" indent="0" algn="just">
              <a:lnSpc>
                <a:spcPct val="150000"/>
              </a:lnSpc>
              <a:buNone/>
            </a:pPr>
            <a:r>
              <a:rPr lang="en-US" sz="1200" dirty="0">
                <a:latin typeface="Calibri"/>
                <a:ea typeface="Calibri"/>
                <a:cs typeface="Calibri"/>
              </a:rPr>
              <a:t>In </a:t>
            </a:r>
            <a:r>
              <a:rPr lang="en-US" sz="1200" dirty="0">
                <a:latin typeface="Calibri"/>
                <a:ea typeface="+mn-lt"/>
                <a:cs typeface="+mn-lt"/>
              </a:rPr>
              <a:t>this evaluates four CNN architectures LeNet, Alex Net, VGG Net, and ResNet for predicting blood groups from fingerprint images. ResNet34 emerged as the most effective model, achieving an accuracy of 95.54% and a validation accuracy of 81.42%. Its depth, residual connections, and robust feature extraction capabilities enabled it to detect subtle fingerprint patterns associated with different blood groups. To advance this approach, future research could integrate additional biometric or genetic data, explore more sophisticated deep learning models, refine feature extraction techniques, and validate the model with larger and more diverse datasets, making fingerprint-based blood group detection more practical and reliable and it can be integrated with the real time data to get the output in our future research.</a:t>
            </a:r>
            <a:endParaRPr lang="en-US" sz="1200" dirty="0">
              <a:latin typeface="Calibri"/>
              <a:ea typeface="Calibri"/>
              <a:cs typeface="Calibri"/>
            </a:endParaRPr>
          </a:p>
        </p:txBody>
      </p:sp>
    </p:spTree>
    <p:extLst>
      <p:ext uri="{BB962C8B-B14F-4D97-AF65-F5344CB8AC3E}">
        <p14:creationId xmlns:p14="http://schemas.microsoft.com/office/powerpoint/2010/main" val="4141294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B7C6D-0B1A-A8EB-7A90-877D8FC67563}"/>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4AC33F21-F886-A4ED-BF18-92C61349CEEF}"/>
              </a:ext>
            </a:extLst>
          </p:cNvPr>
          <p:cNvSpPr>
            <a:spLocks noGrp="1"/>
          </p:cNvSpPr>
          <p:nvPr>
            <p:ph idx="1"/>
          </p:nvPr>
        </p:nvSpPr>
        <p:spPr>
          <a:xfrm>
            <a:off x="543339" y="1948070"/>
            <a:ext cx="10740357" cy="4224130"/>
          </a:xfrm>
        </p:spPr>
        <p:txBody>
          <a:bodyPr lIns="109728" tIns="109728" rIns="109728" bIns="91440" anchor="t"/>
          <a:lstStyle/>
          <a:p>
            <a:pPr marL="342900" lvl="0" indent="-342900" algn="just">
              <a:lnSpc>
                <a:spcPct val="150000"/>
              </a:lnSpc>
              <a:spcAft>
                <a:spcPts val="250"/>
              </a:spcAft>
              <a:buSzPts val="800"/>
              <a:buFont typeface="Times New Roman" panose="02020603050405020304" pitchFamily="18" charset="0"/>
              <a:buAutoNum type="arabicPeriod"/>
              <a:tabLst>
                <a:tab pos="228600" algn="l"/>
              </a:tabLst>
            </a:pPr>
            <a:r>
              <a:rPr lang="en-US" sz="1200" dirty="0">
                <a:solidFill>
                  <a:srgbClr val="222222"/>
                </a:solidFill>
                <a:effectLst/>
                <a:latin typeface="Times New Roman" panose="02020603050405020304" pitchFamily="18" charset="0"/>
                <a:ea typeface="MS Mincho" panose="02020609040205080304" pitchFamily="49" charset="-128"/>
              </a:rPr>
              <a:t>Nihar, T. &amp; </a:t>
            </a:r>
            <a:r>
              <a:rPr lang="en-US" sz="1200" dirty="0" err="1">
                <a:solidFill>
                  <a:srgbClr val="222222"/>
                </a:solidFill>
                <a:effectLst/>
                <a:latin typeface="Times New Roman" panose="02020603050405020304" pitchFamily="18" charset="0"/>
                <a:ea typeface="MS Mincho" panose="02020609040205080304" pitchFamily="49" charset="-128"/>
              </a:rPr>
              <a:t>Yeswanth</a:t>
            </a:r>
            <a:r>
              <a:rPr lang="en-US" sz="1200" dirty="0">
                <a:solidFill>
                  <a:srgbClr val="222222"/>
                </a:solidFill>
                <a:effectLst/>
                <a:latin typeface="Times New Roman" panose="02020603050405020304" pitchFamily="18" charset="0"/>
                <a:ea typeface="MS Mincho" panose="02020609040205080304" pitchFamily="49" charset="-128"/>
              </a:rPr>
              <a:t>, K. &amp; Prabhakar, K.. (2024). Blood group determination using fingerprint. MATEC Web of Conferences. 392. 10.1051/</a:t>
            </a:r>
            <a:r>
              <a:rPr lang="en-US" sz="1200" dirty="0" err="1">
                <a:solidFill>
                  <a:srgbClr val="222222"/>
                </a:solidFill>
                <a:effectLst/>
                <a:latin typeface="Times New Roman" panose="02020603050405020304" pitchFamily="18" charset="0"/>
                <a:ea typeface="MS Mincho" panose="02020609040205080304" pitchFamily="49" charset="-128"/>
              </a:rPr>
              <a:t>matecconf</a:t>
            </a:r>
            <a:r>
              <a:rPr lang="en-US" sz="1200" dirty="0">
                <a:solidFill>
                  <a:srgbClr val="222222"/>
                </a:solidFill>
                <a:effectLst/>
                <a:latin typeface="Times New Roman" panose="02020603050405020304" pitchFamily="18" charset="0"/>
                <a:ea typeface="MS Mincho" panose="02020609040205080304" pitchFamily="49" charset="-128"/>
              </a:rPr>
              <a:t>/202439201069.</a:t>
            </a:r>
            <a:endParaRPr lang="en-IN" sz="1200" dirty="0">
              <a:effectLst/>
              <a:latin typeface="Times New Roman" panose="02020603050405020304" pitchFamily="18" charset="0"/>
              <a:ea typeface="MS Mincho" panose="02020609040205080304" pitchFamily="49" charset="-128"/>
            </a:endParaRPr>
          </a:p>
          <a:p>
            <a:pPr marL="342900" lvl="0" indent="-342900" algn="just">
              <a:lnSpc>
                <a:spcPct val="150000"/>
              </a:lnSpc>
              <a:spcAft>
                <a:spcPts val="250"/>
              </a:spcAft>
              <a:buSzPts val="800"/>
              <a:buFont typeface="Times New Roman" panose="02020603050405020304" pitchFamily="18" charset="0"/>
              <a:buAutoNum type="arabicPeriod"/>
              <a:tabLst>
                <a:tab pos="228600" algn="l"/>
              </a:tabLst>
            </a:pPr>
            <a:r>
              <a:rPr lang="en-US" sz="1200" dirty="0">
                <a:solidFill>
                  <a:srgbClr val="333333"/>
                </a:solidFill>
                <a:effectLst/>
                <a:latin typeface="Times New Roman" panose="02020603050405020304" pitchFamily="18" charset="0"/>
                <a:ea typeface="MS Mincho" panose="02020609040205080304" pitchFamily="49" charset="-128"/>
              </a:rPr>
              <a:t>P. N. Vijaykumar and D. R. Ingle, "A Novel Approach to Predict Blood Group using Fingerprint Map Reading," </a:t>
            </a:r>
            <a:r>
              <a:rPr lang="en-US" sz="1200" i="1" dirty="0">
                <a:solidFill>
                  <a:srgbClr val="333333"/>
                </a:solidFill>
                <a:effectLst/>
                <a:latin typeface="Times New Roman" panose="02020603050405020304" pitchFamily="18" charset="0"/>
                <a:ea typeface="MS Mincho" panose="02020609040205080304" pitchFamily="49" charset="-128"/>
              </a:rPr>
              <a:t>2021 6th International Conference for Convergence in Technology (I2CT)</a:t>
            </a:r>
            <a:r>
              <a:rPr lang="en-US" sz="1200" dirty="0">
                <a:solidFill>
                  <a:srgbClr val="333333"/>
                </a:solidFill>
                <a:effectLst/>
                <a:latin typeface="Times New Roman" panose="02020603050405020304" pitchFamily="18" charset="0"/>
                <a:ea typeface="MS Mincho" panose="02020609040205080304" pitchFamily="49" charset="-128"/>
              </a:rPr>
              <a:t>, Maharashtra, India, 2021, pp. 1-7, </a:t>
            </a:r>
            <a:r>
              <a:rPr lang="en-US" sz="1200" dirty="0" err="1">
                <a:solidFill>
                  <a:srgbClr val="333333"/>
                </a:solidFill>
                <a:effectLst/>
                <a:latin typeface="Times New Roman" panose="02020603050405020304" pitchFamily="18" charset="0"/>
                <a:ea typeface="MS Mincho" panose="02020609040205080304" pitchFamily="49" charset="-128"/>
              </a:rPr>
              <a:t>doi</a:t>
            </a:r>
            <a:r>
              <a:rPr lang="en-US" sz="1200" dirty="0">
                <a:solidFill>
                  <a:srgbClr val="333333"/>
                </a:solidFill>
                <a:effectLst/>
                <a:latin typeface="Times New Roman" panose="02020603050405020304" pitchFamily="18" charset="0"/>
                <a:ea typeface="MS Mincho" panose="02020609040205080304" pitchFamily="49" charset="-128"/>
              </a:rPr>
              <a:t>: 10.1109/I2CT51068.2021.9418114.</a:t>
            </a:r>
            <a:endParaRPr lang="en-IN" sz="1200" dirty="0">
              <a:effectLst/>
              <a:latin typeface="Times New Roman" panose="02020603050405020304" pitchFamily="18" charset="0"/>
              <a:ea typeface="MS Mincho" panose="02020609040205080304" pitchFamily="49" charset="-128"/>
            </a:endParaRPr>
          </a:p>
          <a:p>
            <a:pPr marL="342900" lvl="0" indent="-342900" algn="just">
              <a:lnSpc>
                <a:spcPct val="150000"/>
              </a:lnSpc>
              <a:spcAft>
                <a:spcPts val="250"/>
              </a:spcAft>
              <a:buSzPts val="800"/>
              <a:buFont typeface="Times New Roman" panose="02020603050405020304" pitchFamily="18" charset="0"/>
              <a:buAutoNum type="arabicPeriod"/>
              <a:tabLst>
                <a:tab pos="228600" algn="l"/>
              </a:tabLst>
            </a:pPr>
            <a:r>
              <a:rPr lang="en-US" sz="1200" dirty="0">
                <a:effectLst/>
                <a:latin typeface="Times New Roman" panose="02020603050405020304" pitchFamily="18" charset="0"/>
                <a:ea typeface="MS Mincho" panose="02020609040205080304" pitchFamily="49" charset="-128"/>
              </a:rPr>
              <a:t>P, Swathi &amp; K, Sushmita &amp; </a:t>
            </a:r>
            <a:r>
              <a:rPr lang="en-US" sz="1200" dirty="0" err="1">
                <a:effectLst/>
                <a:latin typeface="Times New Roman" panose="02020603050405020304" pitchFamily="18" charset="0"/>
                <a:ea typeface="MS Mincho" panose="02020609040205080304" pitchFamily="49" charset="-128"/>
              </a:rPr>
              <a:t>Horadi</a:t>
            </a:r>
            <a:r>
              <a:rPr lang="en-US" sz="1200" dirty="0">
                <a:effectLst/>
                <a:latin typeface="Times New Roman" panose="02020603050405020304" pitchFamily="18" charset="0"/>
                <a:ea typeface="MS Mincho" panose="02020609040205080304" pitchFamily="49" charset="-128"/>
              </a:rPr>
              <a:t>, Prof. (2024). Fingerprint Based Blood Group using Deep Learning. International Journal of Advanced Research in Science, Communication and Technology. 699-708. 10.48175/IJARSCT-15393.</a:t>
            </a:r>
            <a:endParaRPr lang="en-IN" sz="1200" dirty="0">
              <a:effectLst/>
              <a:latin typeface="Times New Roman" panose="02020603050405020304" pitchFamily="18" charset="0"/>
              <a:ea typeface="MS Mincho" panose="02020609040205080304" pitchFamily="49" charset="-128"/>
            </a:endParaRPr>
          </a:p>
          <a:p>
            <a:pPr marL="342900" lvl="0" indent="-342900" algn="just">
              <a:lnSpc>
                <a:spcPct val="150000"/>
              </a:lnSpc>
              <a:spcAft>
                <a:spcPts val="250"/>
              </a:spcAft>
              <a:buSzPts val="800"/>
              <a:buFont typeface="Times New Roman" panose="02020603050405020304" pitchFamily="18" charset="0"/>
              <a:buAutoNum type="arabicPeriod"/>
              <a:tabLst>
                <a:tab pos="228600" algn="l"/>
              </a:tabLst>
            </a:pPr>
            <a:r>
              <a:rPr lang="en-US" sz="1200" dirty="0">
                <a:solidFill>
                  <a:srgbClr val="222222"/>
                </a:solidFill>
                <a:effectLst/>
                <a:latin typeface="Times New Roman" panose="02020603050405020304" pitchFamily="18" charset="0"/>
                <a:ea typeface="MS Mincho" panose="02020609040205080304" pitchFamily="49" charset="-128"/>
              </a:rPr>
              <a:t>Patil, Amit, Amrit Malik, and </a:t>
            </a:r>
            <a:r>
              <a:rPr lang="en-US" sz="1200" dirty="0" err="1">
                <a:solidFill>
                  <a:srgbClr val="222222"/>
                </a:solidFill>
                <a:effectLst/>
                <a:latin typeface="Times New Roman" panose="02020603050405020304" pitchFamily="18" charset="0"/>
                <a:ea typeface="MS Mincho" panose="02020609040205080304" pitchFamily="49" charset="-128"/>
              </a:rPr>
              <a:t>Treza</a:t>
            </a:r>
            <a:r>
              <a:rPr lang="en-US" sz="1200" dirty="0">
                <a:solidFill>
                  <a:srgbClr val="222222"/>
                </a:solidFill>
                <a:effectLst/>
                <a:latin typeface="Times New Roman" panose="02020603050405020304" pitchFamily="18" charset="0"/>
                <a:ea typeface="MS Mincho" panose="02020609040205080304" pitchFamily="49" charset="-128"/>
              </a:rPr>
              <a:t> </a:t>
            </a:r>
            <a:r>
              <a:rPr lang="en-US" sz="1200" dirty="0" err="1">
                <a:solidFill>
                  <a:srgbClr val="222222"/>
                </a:solidFill>
                <a:effectLst/>
                <a:latin typeface="Times New Roman" panose="02020603050405020304" pitchFamily="18" charset="0"/>
                <a:ea typeface="MS Mincho" panose="02020609040205080304" pitchFamily="49" charset="-128"/>
              </a:rPr>
              <a:t>Shirole</a:t>
            </a:r>
            <a:r>
              <a:rPr lang="en-US" sz="1200" dirty="0">
                <a:solidFill>
                  <a:srgbClr val="222222"/>
                </a:solidFill>
                <a:effectLst/>
                <a:latin typeface="Times New Roman" panose="02020603050405020304" pitchFamily="18" charset="0"/>
                <a:ea typeface="MS Mincho" panose="02020609040205080304" pitchFamily="49" charset="-128"/>
              </a:rPr>
              <a:t>. "Fingerprint patterns in relation to gender and blood groups-A study in Navi Mumbai." </a:t>
            </a:r>
            <a:r>
              <a:rPr lang="en-US" sz="1200" i="1" dirty="0">
                <a:solidFill>
                  <a:srgbClr val="222222"/>
                </a:solidFill>
                <a:effectLst/>
                <a:latin typeface="Times New Roman" panose="02020603050405020304" pitchFamily="18" charset="0"/>
                <a:ea typeface="MS Mincho" panose="02020609040205080304" pitchFamily="49" charset="-128"/>
              </a:rPr>
              <a:t>Indian Journal of Forensic and Community Medicine</a:t>
            </a:r>
            <a:r>
              <a:rPr lang="en-US" sz="1200" dirty="0">
                <a:solidFill>
                  <a:srgbClr val="222222"/>
                </a:solidFill>
                <a:effectLst/>
                <a:latin typeface="Times New Roman" panose="02020603050405020304" pitchFamily="18" charset="0"/>
                <a:ea typeface="MS Mincho" panose="02020609040205080304" pitchFamily="49" charset="-128"/>
              </a:rPr>
              <a:t> 4, no. 3 (2017): 204-208.</a:t>
            </a:r>
            <a:endParaRPr lang="en-IN" sz="1200" dirty="0">
              <a:effectLst/>
              <a:latin typeface="Times New Roman" panose="02020603050405020304" pitchFamily="18" charset="0"/>
              <a:ea typeface="MS Mincho" panose="02020609040205080304" pitchFamily="49" charset="-128"/>
            </a:endParaRPr>
          </a:p>
          <a:p>
            <a:pPr marL="342900" lvl="0" indent="-342900" algn="just">
              <a:lnSpc>
                <a:spcPct val="150000"/>
              </a:lnSpc>
              <a:spcAft>
                <a:spcPts val="250"/>
              </a:spcAft>
              <a:buSzPts val="800"/>
              <a:buFont typeface="Times New Roman" panose="02020603050405020304" pitchFamily="18" charset="0"/>
              <a:buAutoNum type="arabicPeriod"/>
              <a:tabLst>
                <a:tab pos="228600" algn="l"/>
              </a:tabLst>
            </a:pPr>
            <a:r>
              <a:rPr lang="en-US" sz="1200" dirty="0">
                <a:solidFill>
                  <a:srgbClr val="222222"/>
                </a:solidFill>
                <a:effectLst/>
                <a:latin typeface="Times New Roman" panose="02020603050405020304" pitchFamily="18" charset="0"/>
                <a:ea typeface="MS Mincho" panose="02020609040205080304" pitchFamily="49" charset="-128"/>
              </a:rPr>
              <a:t>Smail, Harem Othman, </a:t>
            </a:r>
            <a:r>
              <a:rPr lang="en-US" sz="1200" dirty="0" err="1">
                <a:solidFill>
                  <a:srgbClr val="222222"/>
                </a:solidFill>
                <a:effectLst/>
                <a:latin typeface="Times New Roman" panose="02020603050405020304" pitchFamily="18" charset="0"/>
                <a:ea typeface="MS Mincho" panose="02020609040205080304" pitchFamily="49" charset="-128"/>
              </a:rPr>
              <a:t>Dlnya</a:t>
            </a:r>
            <a:r>
              <a:rPr lang="en-US" sz="1200" dirty="0">
                <a:solidFill>
                  <a:srgbClr val="222222"/>
                </a:solidFill>
                <a:effectLst/>
                <a:latin typeface="Times New Roman" panose="02020603050405020304" pitchFamily="18" charset="0"/>
                <a:ea typeface="MS Mincho" panose="02020609040205080304" pitchFamily="49" charset="-128"/>
              </a:rPr>
              <a:t> Ahmed Wahab, and </a:t>
            </a:r>
            <a:r>
              <a:rPr lang="en-US" sz="1200" dirty="0" err="1">
                <a:solidFill>
                  <a:srgbClr val="222222"/>
                </a:solidFill>
                <a:effectLst/>
                <a:latin typeface="Times New Roman" panose="02020603050405020304" pitchFamily="18" charset="0"/>
                <a:ea typeface="MS Mincho" panose="02020609040205080304" pitchFamily="49" charset="-128"/>
              </a:rPr>
              <a:t>Zhino</a:t>
            </a:r>
            <a:r>
              <a:rPr lang="en-US" sz="1200" dirty="0">
                <a:solidFill>
                  <a:srgbClr val="222222"/>
                </a:solidFill>
                <a:effectLst/>
                <a:latin typeface="Times New Roman" panose="02020603050405020304" pitchFamily="18" charset="0"/>
                <a:ea typeface="MS Mincho" panose="02020609040205080304" pitchFamily="49" charset="-128"/>
              </a:rPr>
              <a:t> Yahia Abdullah. "Relationship between pattern of fingerprints and blood groups." </a:t>
            </a:r>
            <a:r>
              <a:rPr lang="en-US" sz="1200" i="1" dirty="0">
                <a:solidFill>
                  <a:srgbClr val="222222"/>
                </a:solidFill>
                <a:effectLst/>
                <a:latin typeface="Times New Roman" panose="02020603050405020304" pitchFamily="18" charset="0"/>
                <a:ea typeface="MS Mincho" panose="02020609040205080304" pitchFamily="49" charset="-128"/>
              </a:rPr>
              <a:t>J Adv Lab Res Biol</a:t>
            </a:r>
            <a:r>
              <a:rPr lang="en-US" sz="1200" dirty="0">
                <a:solidFill>
                  <a:srgbClr val="222222"/>
                </a:solidFill>
                <a:effectLst/>
                <a:latin typeface="Times New Roman" panose="02020603050405020304" pitchFamily="18" charset="0"/>
                <a:ea typeface="MS Mincho" panose="02020609040205080304" pitchFamily="49" charset="-128"/>
              </a:rPr>
              <a:t> 10, no. 3 (2019): 84-90.</a:t>
            </a:r>
            <a:endParaRPr lang="en-IN" sz="1200" dirty="0">
              <a:effectLst/>
              <a:latin typeface="Times New Roman" panose="02020603050405020304" pitchFamily="18" charset="0"/>
              <a:ea typeface="MS Mincho" panose="02020609040205080304" pitchFamily="49" charset="-128"/>
            </a:endParaRPr>
          </a:p>
          <a:p>
            <a:pPr marL="342900" lvl="0" indent="-342900" algn="just">
              <a:lnSpc>
                <a:spcPct val="150000"/>
              </a:lnSpc>
              <a:spcAft>
                <a:spcPts val="250"/>
              </a:spcAft>
              <a:buSzPts val="800"/>
              <a:buFont typeface="Times New Roman" panose="02020603050405020304" pitchFamily="18" charset="0"/>
              <a:buAutoNum type="arabicPeriod"/>
              <a:tabLst>
                <a:tab pos="228600" algn="l"/>
              </a:tabLst>
            </a:pPr>
            <a:r>
              <a:rPr lang="en-US" sz="1200" dirty="0">
                <a:solidFill>
                  <a:srgbClr val="222222"/>
                </a:solidFill>
                <a:effectLst/>
                <a:latin typeface="Times New Roman" panose="02020603050405020304" pitchFamily="18" charset="0"/>
                <a:ea typeface="MS Mincho" panose="02020609040205080304" pitchFamily="49" charset="-128"/>
              </a:rPr>
              <a:t>Raja, D. Siva Sundhara, and J. Abinaya. "A cost-effective method for blood group detection using fingerprints." </a:t>
            </a:r>
            <a:r>
              <a:rPr lang="en-US" sz="1200" i="1" dirty="0">
                <a:solidFill>
                  <a:srgbClr val="222222"/>
                </a:solidFill>
                <a:effectLst/>
                <a:latin typeface="Times New Roman" panose="02020603050405020304" pitchFamily="18" charset="0"/>
                <a:ea typeface="MS Mincho" panose="02020609040205080304" pitchFamily="49" charset="-128"/>
              </a:rPr>
              <a:t>International Journal of Advance Study and Research Work</a:t>
            </a:r>
            <a:r>
              <a:rPr lang="en-US" sz="1200" dirty="0">
                <a:solidFill>
                  <a:srgbClr val="222222"/>
                </a:solidFill>
                <a:effectLst/>
                <a:latin typeface="Times New Roman" panose="02020603050405020304" pitchFamily="18" charset="0"/>
                <a:ea typeface="MS Mincho" panose="02020609040205080304" pitchFamily="49" charset="-128"/>
              </a:rPr>
              <a:t> 2 (2019).</a:t>
            </a:r>
            <a:endParaRPr lang="en-IN" sz="1200" dirty="0">
              <a:effectLst/>
              <a:latin typeface="Times New Roman" panose="02020603050405020304" pitchFamily="18" charset="0"/>
              <a:ea typeface="MS Mincho" panose="02020609040205080304" pitchFamily="49" charset="-128"/>
            </a:endParaRPr>
          </a:p>
        </p:txBody>
      </p:sp>
    </p:spTree>
    <p:extLst>
      <p:ext uri="{BB962C8B-B14F-4D97-AF65-F5344CB8AC3E}">
        <p14:creationId xmlns:p14="http://schemas.microsoft.com/office/powerpoint/2010/main" val="3790720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Freeform: Shape 14">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C92556E-84A5-D4B5-7F02-E94C9FEB3E7B}"/>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t>Publication</a:t>
            </a:r>
          </a:p>
        </p:txBody>
      </p:sp>
      <p:sp>
        <p:nvSpPr>
          <p:cNvPr id="19" name="Rectangle 1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descr="A letter of approval from a company&#10;&#10;Description automatically generated">
            <a:extLst>
              <a:ext uri="{FF2B5EF4-FFF2-40B4-BE49-F238E27FC236}">
                <a16:creationId xmlns:a16="http://schemas.microsoft.com/office/drawing/2014/main" id="{BEA126D7-B0A9-1F9A-C904-D2AD8C340FA9}"/>
              </a:ext>
            </a:extLst>
          </p:cNvPr>
          <p:cNvPicPr>
            <a:picLocks noGrp="1" noChangeAspect="1"/>
          </p:cNvPicPr>
          <p:nvPr>
            <p:ph idx="1"/>
          </p:nvPr>
        </p:nvPicPr>
        <p:blipFill>
          <a:blip r:embed="rId2"/>
          <a:stretch>
            <a:fillRect/>
          </a:stretch>
        </p:blipFill>
        <p:spPr>
          <a:xfrm>
            <a:off x="5527539" y="1"/>
            <a:ext cx="6762084" cy="6858000"/>
          </a:xfrm>
          <a:prstGeom prst="rect">
            <a:avLst/>
          </a:prstGeom>
        </p:spPr>
      </p:pic>
    </p:spTree>
    <p:extLst>
      <p:ext uri="{BB962C8B-B14F-4D97-AF65-F5344CB8AC3E}">
        <p14:creationId xmlns:p14="http://schemas.microsoft.com/office/powerpoint/2010/main" val="2825420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blue text on a white background&#10;&#10;Description automatically generated">
            <a:extLst>
              <a:ext uri="{FF2B5EF4-FFF2-40B4-BE49-F238E27FC236}">
                <a16:creationId xmlns:a16="http://schemas.microsoft.com/office/drawing/2014/main" id="{D033A88D-CB5D-3D92-D0A9-6B2A7CC79A20}"/>
              </a:ext>
            </a:extLst>
          </p:cNvPr>
          <p:cNvPicPr>
            <a:picLocks noGrp="1" noChangeAspect="1"/>
          </p:cNvPicPr>
          <p:nvPr>
            <p:ph idx="4294967295"/>
          </p:nvPr>
        </p:nvPicPr>
        <p:blipFill>
          <a:blip r:embed="rId2"/>
          <a:stretch>
            <a:fillRect/>
          </a:stretch>
        </p:blipFill>
        <p:spPr>
          <a:xfrm>
            <a:off x="3022768" y="3703449"/>
            <a:ext cx="5954146" cy="1871662"/>
          </a:xfrm>
          <a:prstGeom prst="rect">
            <a:avLst/>
          </a:prstGeom>
        </p:spPr>
      </p:pic>
      <p:pic>
        <p:nvPicPr>
          <p:cNvPr id="3" name="Graphic 2" descr="Handshake">
            <a:extLst>
              <a:ext uri="{FF2B5EF4-FFF2-40B4-BE49-F238E27FC236}">
                <a16:creationId xmlns:a16="http://schemas.microsoft.com/office/drawing/2014/main" id="{7C2587FC-7E9A-E785-8B98-DEF9DCDBF95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79465" y="1035788"/>
            <a:ext cx="5810517" cy="3549860"/>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2655041312"/>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emplate>office theme</Template>
  <TotalTime>954</TotalTime>
  <Words>2058</Words>
  <Application>Microsoft Office PowerPoint</Application>
  <PresentationFormat>Widescreen</PresentationFormat>
  <Paragraphs>129</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Avenir Next LT Pro</vt:lpstr>
      <vt:lpstr>Calibri</vt:lpstr>
      <vt:lpstr>Neue Haas Grotesk Text Pro</vt:lpstr>
      <vt:lpstr>Times New Roman</vt:lpstr>
      <vt:lpstr>AccentBoxVTI</vt:lpstr>
      <vt:lpstr>BLOOD GROUP PREDICTION BY FINGER PRINT IMAGES USING DEEP LEARNING TECHNIQUES</vt:lpstr>
      <vt:lpstr>Introduction:</vt:lpstr>
      <vt:lpstr>Types of Blood Group in Real Time</vt:lpstr>
      <vt:lpstr>Existing methods to identify Blood Group</vt:lpstr>
      <vt:lpstr>Drawbacks on Present Methods</vt:lpstr>
      <vt:lpstr>Literature Survey:</vt:lpstr>
      <vt:lpstr>Literature Survey:</vt:lpstr>
      <vt:lpstr>Objective:</vt:lpstr>
      <vt:lpstr>Objective:</vt:lpstr>
      <vt:lpstr>Dataset Collection</vt:lpstr>
      <vt:lpstr>Proposed Methodology:</vt:lpstr>
      <vt:lpstr>Proposed Methodology (Flow chart):</vt:lpstr>
      <vt:lpstr>Comparision of Various Models</vt:lpstr>
      <vt:lpstr>Performance Graph of Models</vt:lpstr>
      <vt:lpstr>Result and Output:</vt:lpstr>
      <vt:lpstr>Conclusion &amp; Future Work:</vt:lpstr>
      <vt:lpstr>References</vt:lpstr>
      <vt:lpstr>Publication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siddarthha yelchuri</dc:creator>
  <cp:lastModifiedBy>siddarthha yelchuri</cp:lastModifiedBy>
  <cp:revision>977</cp:revision>
  <dcterms:created xsi:type="dcterms:W3CDTF">2023-08-10T15:06:42Z</dcterms:created>
  <dcterms:modified xsi:type="dcterms:W3CDTF">2025-12-30T08:29:54Z</dcterms:modified>
</cp:coreProperties>
</file>